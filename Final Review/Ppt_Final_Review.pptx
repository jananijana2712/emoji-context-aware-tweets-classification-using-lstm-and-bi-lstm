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57" r:id="rId8"/>
    <p:sldId id="263" r:id="rId9"/>
    <p:sldId id="264" r:id="rId10"/>
    <p:sldId id="276" r:id="rId11"/>
    <p:sldId id="277" r:id="rId12"/>
    <p:sldId id="279" r:id="rId13"/>
    <p:sldId id="278" r:id="rId14"/>
    <p:sldId id="267" r:id="rId15"/>
    <p:sldId id="268" r:id="rId16"/>
    <p:sldId id="269" r:id="rId17"/>
    <p:sldId id="270" r:id="rId18"/>
    <p:sldId id="271" r:id="rId19"/>
    <p:sldId id="272" r:id="rId20"/>
    <p:sldId id="280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CBAF-5065-6CBF-8E2C-A8BB34DEA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6AD1A-A813-0B99-74EC-3B02EC132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C9F8C-8FFD-68AB-6247-074C2259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D31ED-73F0-1E45-09A2-49407C75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68525-9E53-AD9D-6F69-707EC708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04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7D9F-0CF8-A540-315C-393E0FA6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2BB3B-C9FC-9085-FF85-FC96D17ED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E4847-9D4B-03FF-DF18-7D379B8A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EC01E-BD3E-CD8E-0B10-48C0972B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0552B-3D4B-9F3E-0FC6-937FC6FB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0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E449-D48E-9F59-3580-C9E0098B9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56830-FAD5-D3B8-E45E-57664338C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AC79C-A80F-6BDE-B6BD-48B6810A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59D3-E7B5-8265-EC82-59AE5724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70633-6D08-DFBA-200C-EDB06AF88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77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866F-E737-BEAC-A82F-FDB51B43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D1BA-ED8F-0D4D-52CA-DAD766E57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A5683-FAB3-79AE-7B56-8DDCC6B7F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41F6C-9566-EE3B-5788-115BE2DC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1F2D-1257-626E-17C0-721733D2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2F1AF-FCF8-CE22-E616-43C48821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65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9C68-A679-A2EB-41E7-8342C7DD6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C3F72-DDE6-C30F-4FF8-812320009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9E9D9-EBD8-7C6C-6E40-1ED11CF58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C823F-910D-55A5-6009-BF8FCB399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E13D1-61C9-5003-B550-2395F453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EC4EC-A81D-F843-9F3F-A4FEB03C9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16F9FD-CBBB-6A83-BDAA-8AEDD7E8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1A4F5-CD56-3C14-68F2-8C883EB4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10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FC7C-A662-7CB6-0CC2-CD2C6389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F63681-042F-5E49-4C70-C84C192A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8B9E5-B191-1DA2-B831-F531A6A6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A8E6E-FD14-EAF6-9684-9449ED96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00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B4D1B-5435-7616-B145-489223F8A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EE009-A8E4-46AA-DEB1-F148D204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6F0F7-124A-592D-684C-75576C28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77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86CD-C2DA-028E-81DB-0A095A88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33DB3-0ECE-DCB2-5CBE-DDB508A40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EEFF9-429C-AD56-BAC2-7D4E017FB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26619-2683-3907-BD7B-E8F5314A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B258B-0F75-C01D-EE93-4167E8AF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7C00F-E87F-73B7-625B-E7674DA8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537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6B88C-54DC-4E4C-6846-ECDA48FA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C73C5-04F2-9AA5-10D6-C643099ED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CCB34-536D-30A3-FF49-7E748432E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B61CD-2E0F-4278-6EBD-B00818EBF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8102D-EF1D-630F-309B-CB973F45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1927D-CBEE-B160-087E-3CEEC5B8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28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A79F-9393-7F29-A140-BB858DF5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36151-E3C1-6A5E-F3E0-EC8D92578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B9524-2E38-B45A-995B-8E1D0E1E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FFF5-7EB1-84F5-7069-7E2D50DE2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99699-0A17-4FAF-2575-288A003D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93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BA1B2-71ED-EC99-D740-28D42879B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3F9F3-38EC-D73F-FA5D-6E9AD438A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C3F48-BC3D-2556-AC76-E7AF7436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3E203-9328-9B8C-8520-1FF69FCF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36096-61E8-F37F-13E8-6E017371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25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B3A9E-D3E4-B983-9935-77781E4FE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06F15-FC36-4A52-E2E0-40780A21E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47B35-03BF-F3FE-9DCA-7EDC8D741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498BF-94AA-45AC-A23A-A9744209382A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F3F6A-ECB3-8684-B3C4-E12E0A0A9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3E158-B0DB-0DC7-A6A2-AD67FBD31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E7359-3E8D-4256-829B-D73E3357B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05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31F3-17C4-58A8-2A9A-E8673E362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96" y="756603"/>
            <a:ext cx="9960864" cy="1748853"/>
          </a:xfrm>
        </p:spPr>
        <p:txBody>
          <a:bodyPr>
            <a:normAutofit/>
          </a:bodyPr>
          <a:lstStyle/>
          <a:p>
            <a:r>
              <a:rPr lang="en-US" sz="4400" b="1" dirty="0"/>
              <a:t>EMOJI AND CONTEXT–AWARE TWEETS CLASSIFICATION USING LSTM AND Bi-LSTM</a:t>
            </a:r>
            <a:endParaRPr lang="en-IN" sz="44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E65622D-6254-591D-43EC-A875632EBA0D}"/>
              </a:ext>
            </a:extLst>
          </p:cNvPr>
          <p:cNvSpPr txBox="1">
            <a:spLocks/>
          </p:cNvSpPr>
          <p:nvPr/>
        </p:nvSpPr>
        <p:spPr>
          <a:xfrm>
            <a:off x="1524000" y="463356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Under the Guidance of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Dr. P.ANANDHA KUMAR, PROFESSOR,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Information Technology, MIT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AAF540-4042-53D4-BD97-C4761A07134F}"/>
              </a:ext>
            </a:extLst>
          </p:cNvPr>
          <p:cNvSpPr/>
          <p:nvPr/>
        </p:nvSpPr>
        <p:spPr>
          <a:xfrm>
            <a:off x="3112008" y="3127250"/>
            <a:ext cx="7037832" cy="702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60000"/>
              </a:lnSpc>
              <a:buSzPts val="275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lvl="0" algn="ctr">
              <a:lnSpc>
                <a:spcPct val="60000"/>
              </a:lnSpc>
              <a:buSzPts val="275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60000"/>
              </a:lnSpc>
              <a:buSzPts val="275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JANANI GOPALAKRISHNAN (2023611026)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3D84B-D9EA-2ECA-76DB-75E9A960D8D6}"/>
              </a:ext>
            </a:extLst>
          </p:cNvPr>
          <p:cNvSpPr txBox="1"/>
          <p:nvPr/>
        </p:nvSpPr>
        <p:spPr>
          <a:xfrm>
            <a:off x="4240530" y="211931"/>
            <a:ext cx="3320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IF3311 PROJECT PHASE - 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8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2BFE9-5584-56FF-29B7-89BAD00C4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88136"/>
            <a:ext cx="11612880" cy="54589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Hate speech on social media platforms, particularly in event-specific datasets like the Olympics 2024 tweets, is a pressing issue that impacts user experience and societal harmony.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often fail to incorporate contextual and nuanced features like emoji embeddings and multi-dimensional clustering techniques, leading to limited classification accuracy.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address these gaps by leveraging advanced feature extraction techniques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embedding, emoji embedding, N-grams) and deep learning models (LSTM, Bi-LSTM), further enhanced with DBSCAN clustering and an attention mechanism, to achieve context-aware classification of hate speech in tweets.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497141-CAC6-39E2-1CF0-87EC883C1C7E}"/>
              </a:ext>
            </a:extLst>
          </p:cNvPr>
          <p:cNvSpPr txBox="1">
            <a:spLocks/>
          </p:cNvSpPr>
          <p:nvPr/>
        </p:nvSpPr>
        <p:spPr>
          <a:xfrm>
            <a:off x="289560" y="118871"/>
            <a:ext cx="10515600" cy="969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B74156-6287-5B49-A5F2-D190E180E69A}"/>
              </a:ext>
            </a:extLst>
          </p:cNvPr>
          <p:cNvSpPr txBox="1">
            <a:spLocks/>
          </p:cNvSpPr>
          <p:nvPr/>
        </p:nvSpPr>
        <p:spPr>
          <a:xfrm>
            <a:off x="289560" y="3332987"/>
            <a:ext cx="10515600" cy="969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768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C1B3-64F1-8DB1-8793-70B2391F8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00820D-B344-D523-169A-03073091E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941139"/>
              </p:ext>
            </p:extLst>
          </p:nvPr>
        </p:nvGraphicFramePr>
        <p:xfrm>
          <a:off x="180848" y="979888"/>
          <a:ext cx="11523472" cy="5790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185">
                  <a:extLst>
                    <a:ext uri="{9D8B030D-6E8A-4147-A177-3AD203B41FA5}">
                      <a16:colId xmlns:a16="http://schemas.microsoft.com/office/drawing/2014/main" val="3405843923"/>
                    </a:ext>
                  </a:extLst>
                </a:gridCol>
                <a:gridCol w="2483280">
                  <a:extLst>
                    <a:ext uri="{9D8B030D-6E8A-4147-A177-3AD203B41FA5}">
                      <a16:colId xmlns:a16="http://schemas.microsoft.com/office/drawing/2014/main" val="1132456679"/>
                    </a:ext>
                  </a:extLst>
                </a:gridCol>
                <a:gridCol w="2241463">
                  <a:extLst>
                    <a:ext uri="{9D8B030D-6E8A-4147-A177-3AD203B41FA5}">
                      <a16:colId xmlns:a16="http://schemas.microsoft.com/office/drawing/2014/main" val="3175066984"/>
                    </a:ext>
                  </a:extLst>
                </a:gridCol>
                <a:gridCol w="2851076">
                  <a:extLst>
                    <a:ext uri="{9D8B030D-6E8A-4147-A177-3AD203B41FA5}">
                      <a16:colId xmlns:a16="http://schemas.microsoft.com/office/drawing/2014/main" val="2378404247"/>
                    </a:ext>
                  </a:extLst>
                </a:gridCol>
                <a:gridCol w="3259468">
                  <a:extLst>
                    <a:ext uri="{9D8B030D-6E8A-4147-A177-3AD203B41FA5}">
                      <a16:colId xmlns:a16="http://schemas.microsoft.com/office/drawing/2014/main" val="3832775767"/>
                    </a:ext>
                  </a:extLst>
                </a:gridCol>
              </a:tblGrid>
              <a:tr h="518184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S.No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TITLE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METHODOLOGY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ADVANTAGES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LIMITATIONS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462047"/>
                  </a:ext>
                </a:extLst>
              </a:tr>
              <a:tr h="152366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of Hateful Twitter Users with Graph Convolutional Network 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Convolutional Network (GCN) to detect hateful users on Twitter with accuracy of 93%.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Accuracy, Effective Analysis, User Data Integration.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and computationally heavy O(e + n), Data quality dependent, Limited to twitter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36657"/>
                  </a:ext>
                </a:extLst>
              </a:tr>
              <a:tr h="169867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LSTM with Attention for Message-Level and Topic-Based Sentiment Analysis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LSTM with Attention for sentiment analysis, achieving 88% in SemEval-2017 Task 4 datasets.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long-term dependencies using LSTM. Incorporates attention mechanisms for relevance.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expensive.- Performance depends on the quality of the attention mechanism tuning.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704666"/>
                  </a:ext>
                </a:extLst>
              </a:tr>
              <a:tr h="169867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Hate Speech and Offensive Content Identification with Graph Convolutional Networks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Convolutional Networks (GCN) for context-based content detection achieving 71.94% and 78.95% with Hindi and Marathi datasets.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Context-aware analysis, effective with offensive content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structured data for GCNs, high model complexity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448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0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74E7B2-BBC6-64F0-4C64-DC853AAE5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972425"/>
              </p:ext>
            </p:extLst>
          </p:nvPr>
        </p:nvGraphicFramePr>
        <p:xfrm>
          <a:off x="212344" y="541250"/>
          <a:ext cx="11337637" cy="56126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6592">
                  <a:extLst>
                    <a:ext uri="{9D8B030D-6E8A-4147-A177-3AD203B41FA5}">
                      <a16:colId xmlns:a16="http://schemas.microsoft.com/office/drawing/2014/main" val="3405843923"/>
                    </a:ext>
                  </a:extLst>
                </a:gridCol>
                <a:gridCol w="2443347">
                  <a:extLst>
                    <a:ext uri="{9D8B030D-6E8A-4147-A177-3AD203B41FA5}">
                      <a16:colId xmlns:a16="http://schemas.microsoft.com/office/drawing/2014/main" val="1132456679"/>
                    </a:ext>
                  </a:extLst>
                </a:gridCol>
                <a:gridCol w="2205418">
                  <a:extLst>
                    <a:ext uri="{9D8B030D-6E8A-4147-A177-3AD203B41FA5}">
                      <a16:colId xmlns:a16="http://schemas.microsoft.com/office/drawing/2014/main" val="3175066984"/>
                    </a:ext>
                  </a:extLst>
                </a:gridCol>
                <a:gridCol w="2805228">
                  <a:extLst>
                    <a:ext uri="{9D8B030D-6E8A-4147-A177-3AD203B41FA5}">
                      <a16:colId xmlns:a16="http://schemas.microsoft.com/office/drawing/2014/main" val="2378404247"/>
                    </a:ext>
                  </a:extLst>
                </a:gridCol>
                <a:gridCol w="3207052">
                  <a:extLst>
                    <a:ext uri="{9D8B030D-6E8A-4147-A177-3AD203B41FA5}">
                      <a16:colId xmlns:a16="http://schemas.microsoft.com/office/drawing/2014/main" val="3832775767"/>
                    </a:ext>
                  </a:extLst>
                </a:gridCol>
              </a:tblGrid>
              <a:tr h="552486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S.No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TITLE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METHODOLOGY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ADVANTAGES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LIMITATIONS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462047"/>
                  </a:ext>
                </a:extLst>
              </a:tr>
              <a:tr h="181112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Hate Speech and Offensive Content Identification in English and Indo-Aryan Languages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Variety of Machine Learning and Deep Learning models, using Marathi, Hindi and English Tweets from Twitter.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multiple languages, extensive benchmarking.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 focus may not reflect real-world efficiency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36657"/>
                  </a:ext>
                </a:extLst>
              </a:tr>
              <a:tr h="1624524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LSTM with Attention for Sentiment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with attention mechanism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Mechanism improves model interpretability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sentiment analysis, can be computationally expensive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704666"/>
                  </a:ext>
                </a:extLst>
              </a:tr>
              <a:tr h="1624524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Hate Speech Detection on Twitter Using BERT Algorithm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model for hate speech detection on Twitter, achieving 78.69%.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with BERT, effective for text-rich environments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 for fine-tuning, complex preprocessing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448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51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A3F420-766B-0B0C-F6E0-CE951602B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5448"/>
            <a:ext cx="12192000" cy="41871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F9A2A7F-DE1D-615A-D197-A18DB519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63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EBA6E-5FA7-1C56-6922-D8DE1D189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225296"/>
            <a:ext cx="11451336" cy="551383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Platform: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- The primary interactive environment for writing, testing, and visualizing code and models.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Language: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Python 3.x.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Libraries and Frameworks: </a:t>
            </a:r>
            <a:endParaRPr lang="en-IN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Pandas: For data manipulation, cleaning, and handling CSV files.</a:t>
            </a:r>
          </a:p>
          <a:p>
            <a:pPr>
              <a:lnSpc>
                <a:spcPct val="100000"/>
              </a:lnSpc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NumPy: For numerical operations and efficient array manipulations.</a:t>
            </a:r>
          </a:p>
          <a:p>
            <a:pPr>
              <a:lnSpc>
                <a:spcPct val="100000"/>
              </a:lnSpc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NLTK (Natural Language Toolkit): For stop word removal, tokenization, and basic text processing.</a:t>
            </a:r>
          </a:p>
          <a:p>
            <a:pPr>
              <a:lnSpc>
                <a:spcPct val="100000"/>
              </a:lnSpc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Scikit-learn: For extracting n-grams (bi-grams).</a:t>
            </a:r>
          </a:p>
          <a:p>
            <a:pPr>
              <a:lnSpc>
                <a:spcPct val="100000"/>
              </a:lnSpc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TensorFlow/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Keras:For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building and training deep learning models such as LSTM and Bi-LSTM.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Matplotlib and Seaborn: For visualizing model performance, loss curves, accuracy trends, and confusion matrices.</a:t>
            </a:r>
          </a:p>
          <a:p>
            <a:pPr>
              <a:lnSpc>
                <a:spcPct val="100000"/>
              </a:lnSpc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TensorFlow with CUDA/</a:t>
            </a:r>
            <a:r>
              <a:rPr lang="en-IN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cuDNN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To enable GPU acceleration for faster model training and evaluation.</a:t>
            </a:r>
          </a:p>
          <a:p>
            <a:pPr>
              <a:lnSpc>
                <a:spcPct val="100000"/>
              </a:lnSpc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TensorFlow Callbacks: To optimize training using techniques like </a:t>
            </a:r>
            <a:r>
              <a:rPr lang="en-IN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EarlyStopping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ReduceLROnPlateau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B1D72D-0907-FEAD-0223-BABA51956DBA}"/>
              </a:ext>
            </a:extLst>
          </p:cNvPr>
          <p:cNvSpPr txBox="1">
            <a:spLocks/>
          </p:cNvSpPr>
          <p:nvPr/>
        </p:nvSpPr>
        <p:spPr>
          <a:xfrm>
            <a:off x="289560" y="118871"/>
            <a:ext cx="10515600" cy="969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048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B1D6-BFBC-2EBC-17A3-1E61B62AB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88136"/>
            <a:ext cx="11506200" cy="5293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Data: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data : 31,542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= 15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 = 80%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 = 20%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0 = non-hate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1 = hate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F36964-7535-DC8A-90D0-0B4E93B2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0AFE66-D025-DDD2-0C2B-8BE268B78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526451"/>
            <a:ext cx="11325472" cy="17562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2AF05A-FDAA-2D8F-32EC-B73944823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260" y="4069080"/>
            <a:ext cx="9209452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9484-67BE-D469-393D-2EFCC3648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05839"/>
            <a:ext cx="11378184" cy="565099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Extraction: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prepares raw twitter tweets for effective hate speech detection.</a:t>
            </a:r>
          </a:p>
          <a:p>
            <a:pPr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Remove duplicates and Handling Missing Values. </a:t>
            </a:r>
          </a:p>
          <a:p>
            <a:pPr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Standardization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 stop words, apply lemmatization to get root words and eliminating non-ASCII characters.</a:t>
            </a:r>
          </a:p>
          <a:p>
            <a:pPr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Emoji Transformation: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Text into Emoji, allowing model to interpret emotional clues in post.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data is preprocessed, feature extraction generates inputs that enable the model to understand both text and emoji contexts.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 to convert words into vectors.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Emoji Embeddings: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emojis into descriptive vector forms, enhancing the model’s ability to understand non-verbal sentiment.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N-grams: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frequent bigrams (two-word phrases) that may indicate hate speech, improving detection accuracy.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Scoring: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Text-Blob to assign a sentiment score (-1 to 1) to each post, helping the model detect hate speech through tone analysis.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DB6EA2-4833-EF7B-60C0-6DC82DCF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803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C230F4-467F-33D9-8114-B41843785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175986"/>
            <a:ext cx="11228832" cy="4905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6F8BC0-6D43-9662-20E9-58219C411138}"/>
              </a:ext>
            </a:extLst>
          </p:cNvPr>
          <p:cNvSpPr txBox="1"/>
          <p:nvPr/>
        </p:nvSpPr>
        <p:spPr>
          <a:xfrm>
            <a:off x="356616" y="591948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1897834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CDB80D-426B-5E98-7FE7-C8C92928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AND Bi-LSTM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7A0D1-9EC9-164A-D14A-0742892F61C9}"/>
              </a:ext>
            </a:extLst>
          </p:cNvPr>
          <p:cNvSpPr txBox="1"/>
          <p:nvPr/>
        </p:nvSpPr>
        <p:spPr>
          <a:xfrm>
            <a:off x="289560" y="1088137"/>
            <a:ext cx="47213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train deep learning models to detect hate speech using LSTM with Feature Extraction of Word Embedding(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N-grams(Bi-grams).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0D2B6-71EB-BF64-F0D6-D380A5E113A5}"/>
              </a:ext>
            </a:extLst>
          </p:cNvPr>
          <p:cNvSpPr txBox="1"/>
          <p:nvPr/>
        </p:nvSpPr>
        <p:spPr>
          <a:xfrm>
            <a:off x="5312664" y="474345"/>
            <a:ext cx="628192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featured with word embedding(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N-grams(Bi-grams).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labels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Word_Embedding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2D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 and encode Label into one-hot format. Split the data into training and testing sets (80-20 split). And using Bi-grams with Emoji.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Reshape feature arrays to make them compatible with the LSTM model by adding a timestep dimension.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a LSTM-based model with 64 units, dense layers, dropout for regularization, and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layer for binary classification.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Compile the model with Adam optimizer, train it on the training set, and validate on the test set. Evaluate accuracy, confusion matrix, and classification report.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Accuracy, Confusion Matrix and Classification report.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0A6265-8FC6-CF9D-05DB-B446E7F2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5" y="3010044"/>
            <a:ext cx="5002719" cy="275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5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B6C88-FECD-1A6C-17BC-E77A407D5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ECE52E-3C94-DADA-8198-88DAD7DA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AND Bi-LSTM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724E8-ECB6-2CB8-877E-4309A911D675}"/>
              </a:ext>
            </a:extLst>
          </p:cNvPr>
          <p:cNvSpPr txBox="1"/>
          <p:nvPr/>
        </p:nvSpPr>
        <p:spPr>
          <a:xfrm>
            <a:off x="289560" y="1088137"/>
            <a:ext cx="47213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Bi-LSTM MODEL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train deep learning models to detect hate speech using Bi-LSTM with Feature Extraction of Word Embedding(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N-grams(Bi-grams).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8F94C-7CF1-CFB6-0970-50F6FA8978DA}"/>
              </a:ext>
            </a:extLst>
          </p:cNvPr>
          <p:cNvSpPr txBox="1"/>
          <p:nvPr/>
        </p:nvSpPr>
        <p:spPr>
          <a:xfrm>
            <a:off x="5312664" y="474345"/>
            <a:ext cx="628192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featured with word embedding(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N-grams(Bi-grams).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labels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Word_Embedding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2D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 and encode Label into one-hot format. Split the data into training and testing sets (80-20 split). And using Bi-grams with Emoji.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Reshape feature arrays to make them compatible with the Bi-LSTM model by adding a timestep dimension.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a Bi-LSTM-based model with 64 units, dense layers, dropout for regularization, and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layer for binary classification.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Compile the model with Adam optimizer, train it on the training set, and validate on the test set. Evaluate accuracy, confusion matrix, and classification report.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Accuracy, Confusion Matrix and Classification report.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9BC121-9F10-4E4E-264F-5AF399BDB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1" y="3429000"/>
            <a:ext cx="484773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583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7AF66-AD47-81C5-5169-DC7A41B2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EE1904-4CEE-5C40-A503-CBD4564C3BD1}"/>
              </a:ext>
            </a:extLst>
          </p:cNvPr>
          <p:cNvSpPr txBox="1"/>
          <p:nvPr/>
        </p:nvSpPr>
        <p:spPr>
          <a:xfrm>
            <a:off x="289560" y="1261872"/>
            <a:ext cx="47213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train deep learning models to detect hate speech using LSTM with Feature Extraction of Word Embedding(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N-grams(Bi-grams) with DB Scan and Attention Mechanism.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4706FC-76C1-12F8-71E9-D4E3D346C69B}"/>
              </a:ext>
            </a:extLst>
          </p:cNvPr>
          <p:cNvSpPr txBox="1"/>
          <p:nvPr/>
        </p:nvSpPr>
        <p:spPr>
          <a:xfrm>
            <a:off x="5468112" y="1115567"/>
            <a:ext cx="612648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featured with word embedding(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N-grams(Bi-grams).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labels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word embeddings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a 2D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array. And using Bi-grams with Emoji.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DBSCAN clustering on the features for grouping and noise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 feature arrays to fit the LSTM model (adding timestep dimension).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attention mechanism to focus on important sequence features.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LSTM model with 64 units, dense layers, dropout, attention,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binary classification. Train and evaluate using accuracy, confusion matrix, and classification report.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Accuracy, Confusion Matrix and Classification report.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25C07D-4DF6-F754-3E0F-75A8C4DA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1725656" cy="1143001"/>
          </a:xfrm>
        </p:spPr>
        <p:txBody>
          <a:bodyPr>
            <a:noAutofit/>
          </a:bodyPr>
          <a:lstStyle/>
          <a:p>
            <a:pPr algn="l"/>
            <a:br>
              <a:rPr lang="en-IN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32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LSTM AND Bi-LSTM MODEL WITH DB SCAN CLUSTERING AND ATTENTION MECHANISM </a:t>
            </a:r>
            <a:b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IN" sz="3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62A112-1491-305B-269A-C8EFAC063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16" y="3159798"/>
            <a:ext cx="3593592" cy="357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63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40EA-6ADD-D384-7DAA-8B94C918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B4774A-D98E-A687-6004-12C104F47284}"/>
              </a:ext>
            </a:extLst>
          </p:cNvPr>
          <p:cNvSpPr txBox="1"/>
          <p:nvPr/>
        </p:nvSpPr>
        <p:spPr>
          <a:xfrm>
            <a:off x="289560" y="1261872"/>
            <a:ext cx="50231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Bi-LSTM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train deep learning models to detect hate speech using Bi-LSTM with Feature Extraction of Word Embedding(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N-grams(Bi-grams) with DB Scan and Attention Mechanism.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44E9A-9AAA-2F14-8F75-A616FDA19E5C}"/>
              </a:ext>
            </a:extLst>
          </p:cNvPr>
          <p:cNvSpPr txBox="1"/>
          <p:nvPr/>
        </p:nvSpPr>
        <p:spPr>
          <a:xfrm>
            <a:off x="5468112" y="1115567"/>
            <a:ext cx="612648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featured with word embedding(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N-grams(Bi-grams).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labels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word embeddings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a 2D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array. And using Bi-grams with Emoji.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DBSCAN clustering on the features for grouping and noise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Reshape feature arrays to fit the Bi-LSTM model (adding timestep dimension).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attention mechanism to focus on important sequence features.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Bi-LSTM model with 64 units, dense layers, dropout, attention,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binary classification. Train and evaluate using accuracy, confusion matrix, and classification report.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Accuracy, Confusion Matrix and Classification report.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8C9F13-8C28-AC5C-D9FE-99F40BC60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1725656" cy="1143001"/>
          </a:xfrm>
        </p:spPr>
        <p:txBody>
          <a:bodyPr>
            <a:noAutofit/>
          </a:bodyPr>
          <a:lstStyle/>
          <a:p>
            <a:pPr algn="l"/>
            <a:br>
              <a:rPr lang="en-IN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32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LSTM AND Bi-LSTM MODEL WITH DB SCAN CLUSTERING AND ATTENTION MECHANISM </a:t>
            </a:r>
            <a:b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IN" sz="3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7FF9DB-75F6-9A23-5823-AE17A33A2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200864"/>
            <a:ext cx="3153035" cy="355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88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F02703-227F-0B08-C707-1C21F70C6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504" y="1624770"/>
            <a:ext cx="5100034" cy="3928056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366A1-F35A-5C2E-1D9E-A6E1A3FD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1725656" cy="1143001"/>
          </a:xfrm>
        </p:spPr>
        <p:txBody>
          <a:bodyPr>
            <a:noAutofit/>
          </a:bodyPr>
          <a:lstStyle/>
          <a:p>
            <a:pPr algn="l"/>
            <a:br>
              <a:rPr lang="en-IN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32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LSTM AND Bi-LSTM MODEL WITH DB SCAN CLUSTERING AND ATTENTION MECHANISM </a:t>
            </a:r>
            <a:b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IN" sz="3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17A0B2-838F-14EC-1597-735FCF81D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74" y="1599012"/>
            <a:ext cx="5074276" cy="39538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F8D4FC-2E32-B7F3-1B9A-91F026322A92}"/>
              </a:ext>
            </a:extLst>
          </p:cNvPr>
          <p:cNvSpPr txBox="1"/>
          <p:nvPr/>
        </p:nvSpPr>
        <p:spPr>
          <a:xfrm>
            <a:off x="3557016" y="5952744"/>
            <a:ext cx="558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Scan Clustering with Word Embedding(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54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93009A-0A52-750A-0559-2705AC5F5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29" y="0"/>
            <a:ext cx="8388071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44D0A97-6C85-6613-1407-34095047D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46" y="1664208"/>
            <a:ext cx="3611083" cy="226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0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3007A-2AB1-7C64-9707-E92B43BD6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88136"/>
            <a:ext cx="11612880" cy="551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E456C5-D14C-143E-1DEC-49D2E9EF2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4495C0-EC89-83A6-0496-91A11346C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17197"/>
              </p:ext>
            </p:extLst>
          </p:nvPr>
        </p:nvGraphicFramePr>
        <p:xfrm>
          <a:off x="1959864" y="2180618"/>
          <a:ext cx="4136136" cy="1099017"/>
        </p:xfrm>
        <a:graphic>
          <a:graphicData uri="http://schemas.openxmlformats.org/drawingml/2006/table">
            <a:tbl>
              <a:tblPr firstRow="1" firstCol="1" bandRow="1"/>
              <a:tblGrid>
                <a:gridCol w="1034034">
                  <a:extLst>
                    <a:ext uri="{9D8B030D-6E8A-4147-A177-3AD203B41FA5}">
                      <a16:colId xmlns:a16="http://schemas.microsoft.com/office/drawing/2014/main" val="417865457"/>
                    </a:ext>
                  </a:extLst>
                </a:gridCol>
                <a:gridCol w="1034034">
                  <a:extLst>
                    <a:ext uri="{9D8B030D-6E8A-4147-A177-3AD203B41FA5}">
                      <a16:colId xmlns:a16="http://schemas.microsoft.com/office/drawing/2014/main" val="1232974232"/>
                    </a:ext>
                  </a:extLst>
                </a:gridCol>
                <a:gridCol w="1034034">
                  <a:extLst>
                    <a:ext uri="{9D8B030D-6E8A-4147-A177-3AD203B41FA5}">
                      <a16:colId xmlns:a16="http://schemas.microsoft.com/office/drawing/2014/main" val="3713887327"/>
                    </a:ext>
                  </a:extLst>
                </a:gridCol>
                <a:gridCol w="1034034">
                  <a:extLst>
                    <a:ext uri="{9D8B030D-6E8A-4147-A177-3AD203B41FA5}">
                      <a16:colId xmlns:a16="http://schemas.microsoft.com/office/drawing/2014/main" val="335440983"/>
                    </a:ext>
                  </a:extLst>
                </a:gridCol>
              </a:tblGrid>
              <a:tr h="2711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732961"/>
                  </a:ext>
                </a:extLst>
              </a:tr>
              <a:tr h="2711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(non-Hate)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729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955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A028312-4084-2E3A-6FCA-F924C1406242}"/>
              </a:ext>
            </a:extLst>
          </p:cNvPr>
          <p:cNvSpPr txBox="1"/>
          <p:nvPr/>
        </p:nvSpPr>
        <p:spPr>
          <a:xfrm>
            <a:off x="289560" y="1441849"/>
            <a:ext cx="60289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Word Embedding (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GloVe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Accuracy: 98.11%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6CC67E-B92E-2988-B332-8DF6EDB5FB02}"/>
              </a:ext>
            </a:extLst>
          </p:cNvPr>
          <p:cNvSpPr txBox="1"/>
          <p:nvPr/>
        </p:nvSpPr>
        <p:spPr>
          <a:xfrm>
            <a:off x="256794" y="3279635"/>
            <a:ext cx="60944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With N-grams (Bi-grams):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Accuracy – 98.93%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70333E-9756-D6D2-AC0A-414F24B87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304" y="603503"/>
            <a:ext cx="2898648" cy="2791544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0BCBFCC-7659-64BE-21DD-48496C352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595968"/>
              </p:ext>
            </p:extLst>
          </p:nvPr>
        </p:nvGraphicFramePr>
        <p:xfrm>
          <a:off x="1959864" y="4129879"/>
          <a:ext cx="4203192" cy="1274589"/>
        </p:xfrm>
        <a:graphic>
          <a:graphicData uri="http://schemas.openxmlformats.org/drawingml/2006/table">
            <a:tbl>
              <a:tblPr firstRow="1" firstCol="1" bandRow="1"/>
              <a:tblGrid>
                <a:gridCol w="1050798">
                  <a:extLst>
                    <a:ext uri="{9D8B030D-6E8A-4147-A177-3AD203B41FA5}">
                      <a16:colId xmlns:a16="http://schemas.microsoft.com/office/drawing/2014/main" val="375598920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3170394950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2900139871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1417438663"/>
                    </a:ext>
                  </a:extLst>
                </a:gridCol>
              </a:tblGrid>
              <a:tr h="356021"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661987"/>
                  </a:ext>
                </a:extLst>
              </a:tr>
              <a:tr h="356021"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(non-Hate)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834983"/>
                  </a:ext>
                </a:extLst>
              </a:tr>
              <a:tr h="356021"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67187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A560600B-2DD3-8E8B-D935-503E1F383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579" y="3544695"/>
            <a:ext cx="3126581" cy="303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90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215CD-BA58-8235-C410-016A9ABD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32E5A-42EC-D17A-A87B-9462712BD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88136"/>
            <a:ext cx="11612880" cy="551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Bi-LSTM</a:t>
            </a: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6FD46E-DD81-AD36-9EB8-3297F33F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C650C-45C9-43C6-C153-51344BFA0D8C}"/>
              </a:ext>
            </a:extLst>
          </p:cNvPr>
          <p:cNvSpPr txBox="1"/>
          <p:nvPr/>
        </p:nvSpPr>
        <p:spPr>
          <a:xfrm>
            <a:off x="289560" y="1441849"/>
            <a:ext cx="60289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Word Embedding (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GloVe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Accuracy: 98.47%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6F77A-A7AC-3FC1-F09D-C11B8D1D586E}"/>
              </a:ext>
            </a:extLst>
          </p:cNvPr>
          <p:cNvSpPr txBox="1"/>
          <p:nvPr/>
        </p:nvSpPr>
        <p:spPr>
          <a:xfrm>
            <a:off x="256794" y="3279635"/>
            <a:ext cx="60944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With N-grams (Bi-grams):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Accuracy – 98.97%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568A9D-7F11-5A2B-3007-BE74F6720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140983"/>
              </p:ext>
            </p:extLst>
          </p:nvPr>
        </p:nvGraphicFramePr>
        <p:xfrm>
          <a:off x="1959864" y="2190295"/>
          <a:ext cx="4203192" cy="854649"/>
        </p:xfrm>
        <a:graphic>
          <a:graphicData uri="http://schemas.openxmlformats.org/drawingml/2006/table">
            <a:tbl>
              <a:tblPr firstRow="1" firstCol="1" bandRow="1"/>
              <a:tblGrid>
                <a:gridCol w="1050798">
                  <a:extLst>
                    <a:ext uri="{9D8B030D-6E8A-4147-A177-3AD203B41FA5}">
                      <a16:colId xmlns:a16="http://schemas.microsoft.com/office/drawing/2014/main" val="786597799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3355410675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95661901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2275096475"/>
                    </a:ext>
                  </a:extLst>
                </a:gridCol>
              </a:tblGrid>
              <a:tr h="2848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726216"/>
                  </a:ext>
                </a:extLst>
              </a:tr>
              <a:tr h="2848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(non-Hate)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470614"/>
                  </a:ext>
                </a:extLst>
              </a:tr>
              <a:tr h="2848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8958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D62233E-EDD5-AC72-B441-EE58E75B2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794" y="795528"/>
            <a:ext cx="3407132" cy="279036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A04DD6F-748B-0AB3-7B26-557256CF2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428349"/>
              </p:ext>
            </p:extLst>
          </p:nvPr>
        </p:nvGraphicFramePr>
        <p:xfrm>
          <a:off x="1959864" y="4187796"/>
          <a:ext cx="4267200" cy="849885"/>
        </p:xfrm>
        <a:graphic>
          <a:graphicData uri="http://schemas.openxmlformats.org/drawingml/2006/table">
            <a:tbl>
              <a:tblPr firstRow="1" firstCol="1" bandRow="1"/>
              <a:tblGrid>
                <a:gridCol w="1066800">
                  <a:extLst>
                    <a:ext uri="{9D8B030D-6E8A-4147-A177-3AD203B41FA5}">
                      <a16:colId xmlns:a16="http://schemas.microsoft.com/office/drawing/2014/main" val="69338795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6618755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24699252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25430034"/>
                    </a:ext>
                  </a:extLst>
                </a:gridCol>
              </a:tblGrid>
              <a:tr h="283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906617"/>
                  </a:ext>
                </a:extLst>
              </a:tr>
              <a:tr h="283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(non-Hate)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0231"/>
                  </a:ext>
                </a:extLst>
              </a:tr>
              <a:tr h="283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20363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B30D201B-BFAF-F6D5-C453-1D2FBA9EA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794" y="3762249"/>
            <a:ext cx="3627120" cy="297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11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CB0F4-40AD-23A1-11E8-B70B8E8E6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60AC9-5D52-33DB-0F14-E1FC34D53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88136"/>
            <a:ext cx="11612880" cy="551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DB SCAN AND ATTENTION MECHANISM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C2239D-E51A-9D3D-6DD9-774A3F5C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19CD0-7C8A-905F-296B-156C07FD3DBC}"/>
              </a:ext>
            </a:extLst>
          </p:cNvPr>
          <p:cNvSpPr txBox="1"/>
          <p:nvPr/>
        </p:nvSpPr>
        <p:spPr>
          <a:xfrm>
            <a:off x="289560" y="1441849"/>
            <a:ext cx="60289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Word Embedding (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GloVe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Accuracy – 93.86%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C42288-6B96-1CF9-99EE-42AFF7532489}"/>
              </a:ext>
            </a:extLst>
          </p:cNvPr>
          <p:cNvSpPr txBox="1"/>
          <p:nvPr/>
        </p:nvSpPr>
        <p:spPr>
          <a:xfrm>
            <a:off x="256794" y="3279635"/>
            <a:ext cx="60944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With N-grams (Bi-grams):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Accuracy – 98.05%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F2379D-A48A-B9BA-3CF5-A13BEFA7A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491497"/>
              </p:ext>
            </p:extLst>
          </p:nvPr>
        </p:nvGraphicFramePr>
        <p:xfrm>
          <a:off x="1959864" y="2241217"/>
          <a:ext cx="4203192" cy="796101"/>
        </p:xfrm>
        <a:graphic>
          <a:graphicData uri="http://schemas.openxmlformats.org/drawingml/2006/table">
            <a:tbl>
              <a:tblPr firstRow="1" firstCol="1" bandRow="1"/>
              <a:tblGrid>
                <a:gridCol w="1050798">
                  <a:extLst>
                    <a:ext uri="{9D8B030D-6E8A-4147-A177-3AD203B41FA5}">
                      <a16:colId xmlns:a16="http://schemas.microsoft.com/office/drawing/2014/main" val="324972237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718587872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3705649544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769782909"/>
                    </a:ext>
                  </a:extLst>
                </a:gridCol>
              </a:tblGrid>
              <a:tr h="2588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434537"/>
                  </a:ext>
                </a:extLst>
              </a:tr>
              <a:tr h="2588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(non-Hate)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597227"/>
                  </a:ext>
                </a:extLst>
              </a:tr>
              <a:tr h="2588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53618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59FD2C5-6869-4D77-B946-7DD2B244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476" y="603503"/>
            <a:ext cx="3077439" cy="303246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BB31FF-A792-7201-F50A-484E5D770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327147"/>
              </p:ext>
            </p:extLst>
          </p:nvPr>
        </p:nvGraphicFramePr>
        <p:xfrm>
          <a:off x="1959864" y="4248901"/>
          <a:ext cx="4203192" cy="796101"/>
        </p:xfrm>
        <a:graphic>
          <a:graphicData uri="http://schemas.openxmlformats.org/drawingml/2006/table">
            <a:tbl>
              <a:tblPr firstRow="1" firstCol="1" bandRow="1"/>
              <a:tblGrid>
                <a:gridCol w="1050798">
                  <a:extLst>
                    <a:ext uri="{9D8B030D-6E8A-4147-A177-3AD203B41FA5}">
                      <a16:colId xmlns:a16="http://schemas.microsoft.com/office/drawing/2014/main" val="1295344761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1769057364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2258056145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202617307"/>
                    </a:ext>
                  </a:extLst>
                </a:gridCol>
              </a:tblGrid>
              <a:tr h="2467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0467"/>
                  </a:ext>
                </a:extLst>
              </a:tr>
              <a:tr h="2467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(non-Hate)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0.69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077997"/>
                  </a:ext>
                </a:extLst>
              </a:tr>
              <a:tr h="2467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14624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99E9DB8-552C-87AB-0B01-6B90E5151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242" y="3706375"/>
            <a:ext cx="3077439" cy="303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38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BFDE7-3693-34A0-EB3D-E7DC7220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18524-5710-C3A9-21BA-595315397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88136"/>
            <a:ext cx="11612880" cy="5513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Bi-LSTM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DB SCAN AND ATTENTION MECHANISM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011446-C8C6-8602-FED0-58C89023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F23A5-87B2-CD13-9625-14392999FC72}"/>
              </a:ext>
            </a:extLst>
          </p:cNvPr>
          <p:cNvSpPr txBox="1"/>
          <p:nvPr/>
        </p:nvSpPr>
        <p:spPr>
          <a:xfrm>
            <a:off x="289560" y="1441849"/>
            <a:ext cx="60289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Word Embedding (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GloVe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Accuracy – 93.74%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C5E35-0F98-8F31-DBFC-46934DBA3FFC}"/>
              </a:ext>
            </a:extLst>
          </p:cNvPr>
          <p:cNvSpPr txBox="1"/>
          <p:nvPr/>
        </p:nvSpPr>
        <p:spPr>
          <a:xfrm>
            <a:off x="256794" y="3279635"/>
            <a:ext cx="60944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With N-grams (Bi-grams):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Accuracy – 98.17%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D8921C-51E8-0DE0-623C-57D991A53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624327"/>
              </p:ext>
            </p:extLst>
          </p:nvPr>
        </p:nvGraphicFramePr>
        <p:xfrm>
          <a:off x="1959864" y="2270468"/>
          <a:ext cx="4203192" cy="796101"/>
        </p:xfrm>
        <a:graphic>
          <a:graphicData uri="http://schemas.openxmlformats.org/drawingml/2006/table">
            <a:tbl>
              <a:tblPr firstRow="1" firstCol="1" bandRow="1"/>
              <a:tblGrid>
                <a:gridCol w="1050798">
                  <a:extLst>
                    <a:ext uri="{9D8B030D-6E8A-4147-A177-3AD203B41FA5}">
                      <a16:colId xmlns:a16="http://schemas.microsoft.com/office/drawing/2014/main" val="3620132442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511664390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741746530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2973249503"/>
                    </a:ext>
                  </a:extLst>
                </a:gridCol>
              </a:tblGrid>
              <a:tr h="2588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86664"/>
                  </a:ext>
                </a:extLst>
              </a:tr>
              <a:tr h="2588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(non-Hate)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217145"/>
                  </a:ext>
                </a:extLst>
              </a:tr>
              <a:tr h="2588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1200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2C99B45-A76B-9851-9089-2A9E94A19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808" y="440850"/>
            <a:ext cx="3779520" cy="3067685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C60112E-6D0F-83D7-F07F-9E2AEAD5A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47013"/>
              </p:ext>
            </p:extLst>
          </p:nvPr>
        </p:nvGraphicFramePr>
        <p:xfrm>
          <a:off x="1959864" y="4144423"/>
          <a:ext cx="4203192" cy="796101"/>
        </p:xfrm>
        <a:graphic>
          <a:graphicData uri="http://schemas.openxmlformats.org/drawingml/2006/table">
            <a:tbl>
              <a:tblPr firstRow="1" firstCol="1" bandRow="1"/>
              <a:tblGrid>
                <a:gridCol w="1050798">
                  <a:extLst>
                    <a:ext uri="{9D8B030D-6E8A-4147-A177-3AD203B41FA5}">
                      <a16:colId xmlns:a16="http://schemas.microsoft.com/office/drawing/2014/main" val="3412878864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3102757189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4143045471"/>
                    </a:ext>
                  </a:extLst>
                </a:gridCol>
                <a:gridCol w="1050798">
                  <a:extLst>
                    <a:ext uri="{9D8B030D-6E8A-4147-A177-3AD203B41FA5}">
                      <a16:colId xmlns:a16="http://schemas.microsoft.com/office/drawing/2014/main" val="937744302"/>
                    </a:ext>
                  </a:extLst>
                </a:gridCol>
              </a:tblGrid>
              <a:tr h="2589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20567"/>
                  </a:ext>
                </a:extLst>
              </a:tr>
              <a:tr h="2589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(non-Hate)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291400"/>
                  </a:ext>
                </a:extLst>
              </a:tr>
              <a:tr h="2589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1(Hate)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941632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6A23F5C3-78A8-EF57-8546-DCD4904A7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022" y="3508535"/>
            <a:ext cx="3492623" cy="331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88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2A835E-C002-535F-F85C-D3850DFC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581" y="2805750"/>
            <a:ext cx="9773989" cy="376885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F5A1DF-703F-AB6D-73C0-2F56BEF02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664276"/>
              </p:ext>
            </p:extLst>
          </p:nvPr>
        </p:nvGraphicFramePr>
        <p:xfrm>
          <a:off x="435864" y="283398"/>
          <a:ext cx="6458712" cy="2388303"/>
        </p:xfrm>
        <a:graphic>
          <a:graphicData uri="http://schemas.openxmlformats.org/drawingml/2006/table">
            <a:tbl>
              <a:tblPr firstRow="1" firstCol="1" bandRow="1"/>
              <a:tblGrid>
                <a:gridCol w="4072128">
                  <a:extLst>
                    <a:ext uri="{9D8B030D-6E8A-4147-A177-3AD203B41FA5}">
                      <a16:colId xmlns:a16="http://schemas.microsoft.com/office/drawing/2014/main" val="1731883226"/>
                    </a:ext>
                  </a:extLst>
                </a:gridCol>
                <a:gridCol w="2386584">
                  <a:extLst>
                    <a:ext uri="{9D8B030D-6E8A-4147-A177-3AD203B41FA5}">
                      <a16:colId xmlns:a16="http://schemas.microsoft.com/office/drawing/2014/main" val="3663025392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444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 (GloVe)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98.11%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41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 (Bi-grams)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98.93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10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Bi-LSTM(GloVe)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98.47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991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Bi-LSTM(Bi-grams)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98.97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610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 + DB Scan+ Attention Mechanism (GloVe)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93.86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6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 + DB Scan+ Attention Mechanism (Bi-grams)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98.05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84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Bi-LSTM + DB Scan+ Attention Mechanism (GloVe)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93.74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11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Bi-LSTM + DB Scan+ Attention Mechanism (Bi-grams)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3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98.17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565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699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11394-3DDE-A999-860E-18B2C543A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88" y="1103248"/>
            <a:ext cx="11423904" cy="534327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detecting hate speech in Olympics datasets in LSTM and Bi-LSTM with or without DB Scan clustering and Attention Mechanism.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experiments demonstrated that Bi-LSTM models consistently outperformed LSTM due to their ability to capture bidirectional dependencies. </a:t>
            </a:r>
          </a:p>
          <a:p>
            <a:pPr>
              <a:lnSpc>
                <a:spcPct val="100000"/>
              </a:lnSpc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Word embeddings with Bi-LSTM achieved higher accuracy 98.47% than LSTM 98.11%, while N-grams (Bi-grams) with the top 5000 features yielded the best performance: 98.97% for Bi-LSTM and 98.93% for LSTM. </a:t>
            </a:r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DB Scan and Attention Mechanism with word embeddings delivering lower accuracy 93.86% for LSTM and 93.74% for Bi-LSTM. 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also another analyze with N-grams (Bi-grams) with top 10 features Bi-LSTM achieved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higer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accuracy 94.47% than LSTM 94.07%. 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evaluating all Bi-LSTM model performed well than LSTM model.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017871-161E-E019-2775-FAA7FAF37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495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8A332-BA2B-A365-FAAD-80E5CF0A6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56" y="1253330"/>
            <a:ext cx="11387328" cy="51383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can extend this work in the following directions: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architectures such as Transformers or Hybrid Models to improve performance and capture complex relationships in the data.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exploring other feature extraction like Linguistic feature such as syntactic dependencies, word frequencies, and topic modelling.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Transfer Learning with pre-trained models 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GPT with fine-tuning on the dataset to handle complex hate speech patterns more effectively.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real-time hate speech detection system to analyze social media content dynamically.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92ACC3-0692-AAED-500B-C743639FB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718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0579EB-1A4C-A547-8435-FCBB7317BB33}"/>
              </a:ext>
            </a:extLst>
          </p:cNvPr>
          <p:cNvSpPr txBox="1"/>
          <p:nvPr/>
        </p:nvSpPr>
        <p:spPr>
          <a:xfrm>
            <a:off x="289560" y="970690"/>
            <a:ext cx="11036808" cy="5768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U. Ahmed and J. C.-W. Lin, "Deep explainable hate speech active learning on social-media data", IEEE Trans.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Social Syst., Apr. 2022.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Alsafari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S.,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Sadaoui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S.,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Mouhoub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M., 2020. “Hate and offensive speech detection on Arabic social media”. Online Soc.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Media 19, 100096.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S. S.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Aluru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B. Mathew, P. Saha, A. Mukherjee, “Deep learning models for multilingual hate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speech detection”,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arXiv:2004.06465 (2020).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T. Mandl, S. Modha, G. K. Shahi, H. Madhu, S.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Satapara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P. Majumder, J. Schäfer, T. Ranas-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inghe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Zampieri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 Nandini, A. K. Jaiswal, Overview of the HASOC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subtrack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FIRE 2021: “Hate Speech and Offensive Content Identification in English and Indo-Aryan Languages”, in: Working Notes of FIRE 2021 - Forum for Information Retrieval Evaluation, CEUR, 2021.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C.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Baziotis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N.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Pelekis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C.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Doulkeridis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Datastories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semeval-2017 task 4: “Deep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attention for message-level and topic-based sentiment analysis”, in: Proceedings of the 11th International Workshop on Semantic Evaluation (SemEval-2017), Association for Computational Linguistics, Vancouver, Canada, 2017, pp. 747–754.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95789E-F8F3-D645-36D7-9E7F8028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18871"/>
            <a:ext cx="10515600" cy="969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206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2320</Words>
  <Application>Microsoft Office PowerPoint</Application>
  <PresentationFormat>Widescreen</PresentationFormat>
  <Paragraphs>320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EMOJI AND CONTEXT–AWARE TWEETS CLASSIFICATION USING LSTM AND Bi-LSTM</vt:lpstr>
      <vt:lpstr>PowerPoint Presentation</vt:lpstr>
      <vt:lpstr>LITERATURE SURVEY</vt:lpstr>
      <vt:lpstr>PowerPoint Presentation</vt:lpstr>
      <vt:lpstr>SYSTEM ARCHITECTURE</vt:lpstr>
      <vt:lpstr>PowerPoint Presentation</vt:lpstr>
      <vt:lpstr>DATASET DESCRIPTION</vt:lpstr>
      <vt:lpstr>MODULE DESCRIPTION</vt:lpstr>
      <vt:lpstr>PowerPoint Presentation</vt:lpstr>
      <vt:lpstr>LSTM AND Bi-LSTM</vt:lpstr>
      <vt:lpstr>LSTM AND Bi-LSTM</vt:lpstr>
      <vt:lpstr> LSTM AND Bi-LSTM MODEL WITH DB SCAN CLUSTERING AND ATTENTION MECHANISM  </vt:lpstr>
      <vt:lpstr> LSTM AND Bi-LSTM MODEL WITH DB SCAN CLUSTERING AND ATTENTION MECHANISM  </vt:lpstr>
      <vt:lpstr> LSTM AND Bi-LSTM MODEL WITH DB SCAN CLUSTERING AND ATTENTION MECHANISM  </vt:lpstr>
      <vt:lpstr>PowerPoint Presentation</vt:lpstr>
      <vt:lpstr>RESULTS AND DISCUSSION</vt:lpstr>
      <vt:lpstr>RESULTS AND DISCUSSION</vt:lpstr>
      <vt:lpstr>RESULTS AND DISCUSSION</vt:lpstr>
      <vt:lpstr>RESULTS AND DISCUSSION</vt:lpstr>
      <vt:lpstr>PowerPoint Presentation</vt:lpstr>
      <vt:lpstr>CONCLUSION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JANANI GOPALAKRISHNAN</dc:creator>
  <cp:lastModifiedBy>JANANI GOPALAKRISHNAN</cp:lastModifiedBy>
  <cp:revision>37</cp:revision>
  <dcterms:created xsi:type="dcterms:W3CDTF">2024-12-18T04:18:32Z</dcterms:created>
  <dcterms:modified xsi:type="dcterms:W3CDTF">2024-12-20T03:53:28Z</dcterms:modified>
</cp:coreProperties>
</file>