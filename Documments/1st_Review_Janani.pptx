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8" r:id="rId5"/>
    <p:sldId id="259" r:id="rId6"/>
    <p:sldId id="267" r:id="rId7"/>
    <p:sldId id="260" r:id="rId8"/>
    <p:sldId id="262" r:id="rId9"/>
    <p:sldId id="263" r:id="rId10"/>
    <p:sldId id="265" r:id="rId11"/>
    <p:sldId id="264" r:id="rId12"/>
    <p:sldId id="268" r:id="rId13"/>
    <p:sldId id="269"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5146" autoAdjust="0"/>
  </p:normalViewPr>
  <p:slideViewPr>
    <p:cSldViewPr snapToGrid="0">
      <p:cViewPr varScale="1">
        <p:scale>
          <a:sx n="89" d="100"/>
          <a:sy n="89"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01065-7C07-5B78-5507-6C8CB42BC0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F85B43-9044-76DD-F996-D31DD54CED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EDEBDC1-71B0-A5F2-A695-A8D5D418E01E}"/>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5" name="Footer Placeholder 4">
            <a:extLst>
              <a:ext uri="{FF2B5EF4-FFF2-40B4-BE49-F238E27FC236}">
                <a16:creationId xmlns:a16="http://schemas.microsoft.com/office/drawing/2014/main" id="{A931CDC9-5DF3-A4D5-0B16-1DAF364C17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B87FF0F-74F4-25CD-CDF4-F57FF75FB071}"/>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1012062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F050-82A7-9343-2A75-D35E50986B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E47478-91CB-9C8D-D79F-DB443162E7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5904DD-EC78-169D-5C78-D5B56B13580E}"/>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5" name="Footer Placeholder 4">
            <a:extLst>
              <a:ext uri="{FF2B5EF4-FFF2-40B4-BE49-F238E27FC236}">
                <a16:creationId xmlns:a16="http://schemas.microsoft.com/office/drawing/2014/main" id="{4B500574-F15F-EA20-74BF-0ABC1DFFA1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D88499-986D-0215-0523-86E52B4AC2F8}"/>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1852978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70D94-9704-6252-87E8-0024379585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2388C4-79B6-FB17-0052-36057A2EAA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14522B-9E0A-3FAA-6419-E4EFD3F63B9E}"/>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5" name="Footer Placeholder 4">
            <a:extLst>
              <a:ext uri="{FF2B5EF4-FFF2-40B4-BE49-F238E27FC236}">
                <a16:creationId xmlns:a16="http://schemas.microsoft.com/office/drawing/2014/main" id="{C56B2717-B165-09E9-BC39-3C4436FB4A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2BE90-5F42-EB25-9849-F287F1D2FAFD}"/>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402342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9A571-7DC3-5EB7-16ED-91157A4B47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9E5CE3-8277-C06A-3319-36C4C1692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773E045-962A-4F76-C4D1-59E48DB9CE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02FED9-04D7-03E0-52AB-89AE5B4A4203}"/>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6" name="Footer Placeholder 5">
            <a:extLst>
              <a:ext uri="{FF2B5EF4-FFF2-40B4-BE49-F238E27FC236}">
                <a16:creationId xmlns:a16="http://schemas.microsoft.com/office/drawing/2014/main" id="{81EB15A3-22C2-8273-DD1F-FD9284EA9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CDF57E-1CAD-1FC4-4FCE-0F98A1F8A456}"/>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1725760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65096-7DBB-1323-E5B0-D9F7E92A0F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BAC272-D442-DF11-8618-040A028AF7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8E287E-9703-B6FF-B3D2-9720917F92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0A1247-3D3F-EF2D-341C-DE715B1450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71289F-4D84-5D43-3303-1B75968AA6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B62E88-8F7C-BB11-4889-C93A35DA45A5}"/>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8" name="Footer Placeholder 7">
            <a:extLst>
              <a:ext uri="{FF2B5EF4-FFF2-40B4-BE49-F238E27FC236}">
                <a16:creationId xmlns:a16="http://schemas.microsoft.com/office/drawing/2014/main" id="{B710F008-F239-8291-4EE1-7D6F14E941E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A5C238-5614-DE65-D073-1F24D02E4FC6}"/>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3909347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E029-3DB8-A483-F382-152325C439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6AC3B9-1028-7B08-C84B-0A2D9CD154E3}"/>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4" name="Footer Placeholder 3">
            <a:extLst>
              <a:ext uri="{FF2B5EF4-FFF2-40B4-BE49-F238E27FC236}">
                <a16:creationId xmlns:a16="http://schemas.microsoft.com/office/drawing/2014/main" id="{D0BAD864-EBF4-630E-8202-0D0D3C6591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F8AC95-4262-8C3A-CDB8-FB7E245C928A}"/>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3285306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525D3E-2CFB-75CB-E8BF-1743AB6CEE57}"/>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3" name="Footer Placeholder 2">
            <a:extLst>
              <a:ext uri="{FF2B5EF4-FFF2-40B4-BE49-F238E27FC236}">
                <a16:creationId xmlns:a16="http://schemas.microsoft.com/office/drawing/2014/main" id="{D66DA504-E85B-C158-9B10-2132B9CB94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43D054-C524-3737-87D5-1CFB3D307B9A}"/>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1810179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2503-6B14-7D95-2A4C-9E88D79EBC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ABA6CA1-8977-8E47-C240-22663EB0D9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011B20-8EA7-A91B-FF10-9E984B517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92EA5F-CF8B-C881-E9C0-F3ED57DE3EF9}"/>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6" name="Footer Placeholder 5">
            <a:extLst>
              <a:ext uri="{FF2B5EF4-FFF2-40B4-BE49-F238E27FC236}">
                <a16:creationId xmlns:a16="http://schemas.microsoft.com/office/drawing/2014/main" id="{729EACC2-89DB-B19A-FB41-4E6738319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4E87BC-00FE-8F85-2624-F9A953BCA449}"/>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2680002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5B675-F8B3-7C7D-4229-7C341244EE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03F918-FB4C-7597-894F-FDF2C46D2E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FF2C88-0CE1-3D48-B55A-20B56879C4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5CE6C2-8B3A-523F-00DE-21ECEC77F596}"/>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6" name="Footer Placeholder 5">
            <a:extLst>
              <a:ext uri="{FF2B5EF4-FFF2-40B4-BE49-F238E27FC236}">
                <a16:creationId xmlns:a16="http://schemas.microsoft.com/office/drawing/2014/main" id="{98FFC461-7BD5-4734-9603-04920339E2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197660-BD16-2815-B24B-D55B9E00B16C}"/>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1173490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FDD77-69AC-AC04-3973-60E8061AC3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4CBFDB-D71C-25B9-D28F-96EB0B7722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9186FE-5B4D-0705-81E5-B3920CD54B04}"/>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5" name="Footer Placeholder 4">
            <a:extLst>
              <a:ext uri="{FF2B5EF4-FFF2-40B4-BE49-F238E27FC236}">
                <a16:creationId xmlns:a16="http://schemas.microsoft.com/office/drawing/2014/main" id="{0CB1CAFE-068A-1001-DC0F-89323EAFC6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696CF0-460F-5DD4-1DDC-462EBB89264C}"/>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4294548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24FD44-21A7-ED88-4B7E-AFC082330D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7B11A0-F890-5993-6D1D-3BABCDBA3F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1B57E5-43E4-885B-BA3C-3F3EE19E4A41}"/>
              </a:ext>
            </a:extLst>
          </p:cNvPr>
          <p:cNvSpPr>
            <a:spLocks noGrp="1"/>
          </p:cNvSpPr>
          <p:nvPr>
            <p:ph type="dt" sz="half" idx="10"/>
          </p:nvPr>
        </p:nvSpPr>
        <p:spPr/>
        <p:txBody>
          <a:bodyPr/>
          <a:lstStyle/>
          <a:p>
            <a:fld id="{915FDBFD-937E-4030-AA1A-103993B38A4E}" type="datetimeFigureOut">
              <a:rPr lang="en-IN" smtClean="0"/>
              <a:t>19-12-2024</a:t>
            </a:fld>
            <a:endParaRPr lang="en-IN"/>
          </a:p>
        </p:txBody>
      </p:sp>
      <p:sp>
        <p:nvSpPr>
          <p:cNvPr id="5" name="Footer Placeholder 4">
            <a:extLst>
              <a:ext uri="{FF2B5EF4-FFF2-40B4-BE49-F238E27FC236}">
                <a16:creationId xmlns:a16="http://schemas.microsoft.com/office/drawing/2014/main" id="{B490FE93-4601-5BA7-8036-85E9421346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1E4F86-1179-B222-9F61-DF6B8EAE6CE2}"/>
              </a:ext>
            </a:extLst>
          </p:cNvPr>
          <p:cNvSpPr>
            <a:spLocks noGrp="1"/>
          </p:cNvSpPr>
          <p:nvPr>
            <p:ph type="sldNum" sz="quarter" idx="12"/>
          </p:nvPr>
        </p:nvSpPr>
        <p:spPr/>
        <p:txBody>
          <a:bodyPr/>
          <a:lstStyle/>
          <a:p>
            <a:fld id="{F8C13AFA-CE82-4774-83DE-A20DD7A9F44A}" type="slidenum">
              <a:rPr lang="en-IN" smtClean="0"/>
              <a:t>‹#›</a:t>
            </a:fld>
            <a:endParaRPr lang="en-IN"/>
          </a:p>
        </p:txBody>
      </p:sp>
    </p:spTree>
    <p:extLst>
      <p:ext uri="{BB962C8B-B14F-4D97-AF65-F5344CB8AC3E}">
        <p14:creationId xmlns:p14="http://schemas.microsoft.com/office/powerpoint/2010/main" val="2222487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5461E0-06FB-C506-140E-5E147EA517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765F0A-4D32-7069-C93F-BB76A2A6F2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B6B0B8-0F0C-F57E-E709-32E803560B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5FDBFD-937E-4030-AA1A-103993B38A4E}" type="datetimeFigureOut">
              <a:rPr lang="en-IN" smtClean="0"/>
              <a:t>19-12-2024</a:t>
            </a:fld>
            <a:endParaRPr lang="en-IN"/>
          </a:p>
        </p:txBody>
      </p:sp>
      <p:sp>
        <p:nvSpPr>
          <p:cNvPr id="5" name="Footer Placeholder 4">
            <a:extLst>
              <a:ext uri="{FF2B5EF4-FFF2-40B4-BE49-F238E27FC236}">
                <a16:creationId xmlns:a16="http://schemas.microsoft.com/office/drawing/2014/main" id="{44966ADD-4A55-D5A6-999E-343393760B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7D18AE-F068-9381-364E-0D3E1E58D9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C13AFA-CE82-4774-83DE-A20DD7A9F44A}" type="slidenum">
              <a:rPr lang="en-IN" smtClean="0"/>
              <a:t>‹#›</a:t>
            </a:fld>
            <a:endParaRPr lang="en-IN"/>
          </a:p>
        </p:txBody>
      </p:sp>
    </p:spTree>
    <p:extLst>
      <p:ext uri="{BB962C8B-B14F-4D97-AF65-F5344CB8AC3E}">
        <p14:creationId xmlns:p14="http://schemas.microsoft.com/office/powerpoint/2010/main" val="144865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3365E-840B-4E2F-6415-F25C14F46F90}"/>
              </a:ext>
            </a:extLst>
          </p:cNvPr>
          <p:cNvSpPr txBox="1">
            <a:spLocks/>
          </p:cNvSpPr>
          <p:nvPr/>
        </p:nvSpPr>
        <p:spPr>
          <a:xfrm>
            <a:off x="669036" y="-532965"/>
            <a:ext cx="10853928" cy="2060014"/>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IN" sz="2800" dirty="0">
                <a:solidFill>
                  <a:schemeClr val="dk1"/>
                </a:solidFill>
                <a:latin typeface="Times New Roman" panose="02020603050405020304" pitchFamily="18" charset="0"/>
                <a:cs typeface="Times New Roman" panose="02020603050405020304" pitchFamily="18" charset="0"/>
              </a:rPr>
            </a:br>
            <a:br>
              <a:rPr lang="en-IN" sz="2800" dirty="0">
                <a:solidFill>
                  <a:schemeClr val="dk1"/>
                </a:solidFill>
                <a:latin typeface="Times New Roman" panose="02020603050405020304" pitchFamily="18" charset="0"/>
                <a:cs typeface="Times New Roman" panose="02020603050405020304" pitchFamily="18" charset="0"/>
              </a:rPr>
            </a:br>
            <a:br>
              <a:rPr lang="en-IN" sz="2800" dirty="0">
                <a:solidFill>
                  <a:schemeClr val="dk1"/>
                </a:solidFill>
                <a:latin typeface="Times New Roman" panose="02020603050405020304" pitchFamily="18" charset="0"/>
                <a:cs typeface="Times New Roman" panose="02020603050405020304" pitchFamily="18" charset="0"/>
              </a:rPr>
            </a:br>
            <a:r>
              <a:rPr lang="en-IN" sz="2800" dirty="0">
                <a:solidFill>
                  <a:schemeClr val="dk1"/>
                </a:solidFill>
                <a:latin typeface="Times New Roman" panose="02020603050405020304" pitchFamily="18" charset="0"/>
                <a:cs typeface="Times New Roman" panose="02020603050405020304" pitchFamily="18" charset="0"/>
              </a:rPr>
              <a:t>IF3311 PROJECT - I</a:t>
            </a:r>
            <a:br>
              <a:rPr lang="en-IN" sz="2800" dirty="0">
                <a:solidFill>
                  <a:schemeClr val="dk1"/>
                </a:solidFill>
                <a:latin typeface="Times New Roman" panose="02020603050405020304" pitchFamily="18" charset="0"/>
                <a:cs typeface="Times New Roman" panose="02020603050405020304" pitchFamily="18" charset="0"/>
              </a:rPr>
            </a:br>
            <a:br>
              <a:rPr lang="en-IN" sz="2800"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HATE SPEECH DETECTION</a:t>
            </a: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USING TRANSFER LEARNING</a:t>
            </a:r>
            <a:endParaRPr lang="en-IN" sz="28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B11608D-AC71-E62A-F21D-1E211CBAA4BC}"/>
              </a:ext>
            </a:extLst>
          </p:cNvPr>
          <p:cNvSpPr/>
          <p:nvPr/>
        </p:nvSpPr>
        <p:spPr>
          <a:xfrm>
            <a:off x="3048000" y="2970464"/>
            <a:ext cx="6096000" cy="603499"/>
          </a:xfrm>
          <a:prstGeom prst="rect">
            <a:avLst/>
          </a:prstGeom>
        </p:spPr>
        <p:txBody>
          <a:bodyPr>
            <a:spAutoFit/>
          </a:bodyPr>
          <a:lstStyle/>
          <a:p>
            <a:pPr lvl="0" algn="ctr">
              <a:lnSpc>
                <a:spcPct val="60000"/>
              </a:lnSpc>
              <a:buSzPts val="275"/>
            </a:pPr>
            <a:r>
              <a:rPr lang="en-US" dirty="0">
                <a:latin typeface="Times New Roman" panose="02020603050405020304" pitchFamily="18" charset="0"/>
                <a:cs typeface="Times New Roman" panose="02020603050405020304" pitchFamily="18" charset="0"/>
              </a:rPr>
              <a:t>Presented By</a:t>
            </a:r>
          </a:p>
          <a:p>
            <a:pPr lvl="0" algn="ctr">
              <a:lnSpc>
                <a:spcPct val="60000"/>
              </a:lnSpc>
              <a:buSzPts val="275"/>
            </a:pPr>
            <a:endParaRPr lang="en-US" dirty="0">
              <a:latin typeface="Times New Roman" panose="02020603050405020304" pitchFamily="18" charset="0"/>
              <a:cs typeface="Times New Roman" panose="02020603050405020304" pitchFamily="18" charset="0"/>
            </a:endParaRPr>
          </a:p>
          <a:p>
            <a:pPr lvl="0" algn="ctr">
              <a:lnSpc>
                <a:spcPct val="60000"/>
              </a:lnSpc>
              <a:buSzPts val="275"/>
            </a:pPr>
            <a:r>
              <a:rPr lang="en-US" dirty="0">
                <a:latin typeface="Times New Roman" panose="02020603050405020304" pitchFamily="18" charset="0"/>
                <a:cs typeface="Times New Roman" panose="02020603050405020304" pitchFamily="18" charset="0"/>
              </a:rPr>
              <a:t>Janani Gopalakrishnan (2023611026)</a:t>
            </a:r>
          </a:p>
        </p:txBody>
      </p:sp>
      <p:sp>
        <p:nvSpPr>
          <p:cNvPr id="6" name="Subtitle 2">
            <a:extLst>
              <a:ext uri="{FF2B5EF4-FFF2-40B4-BE49-F238E27FC236}">
                <a16:creationId xmlns:a16="http://schemas.microsoft.com/office/drawing/2014/main" id="{843CA159-EDAE-A574-D993-94541C3E27E3}"/>
              </a:ext>
            </a:extLst>
          </p:cNvPr>
          <p:cNvSpPr txBox="1">
            <a:spLocks/>
          </p:cNvSpPr>
          <p:nvPr/>
        </p:nvSpPr>
        <p:spPr>
          <a:xfrm>
            <a:off x="1524000" y="463356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Under the Guidance of </a:t>
            </a:r>
          </a:p>
          <a:p>
            <a:pPr marL="0" marR="0" lvl="0" indent="0" algn="ctr"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Dr. P.ANANDHA KUMAR, PROFESSOR, </a:t>
            </a:r>
          </a:p>
          <a:p>
            <a:pPr marL="0" marR="0" lvl="0" indent="0" algn="ctr"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mn-ea"/>
                <a:cs typeface="Times New Roman" panose="02020603050405020304" pitchFamily="18" charset="0"/>
              </a:rPr>
              <a:t>Department of Information Technology, MIT</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9405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9157A8-671C-BFF5-61C5-8C4D8967A1C6}"/>
              </a:ext>
            </a:extLst>
          </p:cNvPr>
          <p:cNvSpPr txBox="1"/>
          <p:nvPr/>
        </p:nvSpPr>
        <p:spPr>
          <a:xfrm>
            <a:off x="2468880" y="219456"/>
            <a:ext cx="6373368"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PROPOSED SYSTEM</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FC6D8DD-8929-80C0-1E24-550AE13A9552}"/>
              </a:ext>
            </a:extLst>
          </p:cNvPr>
          <p:cNvSpPr txBox="1"/>
          <p:nvPr/>
        </p:nvSpPr>
        <p:spPr>
          <a:xfrm>
            <a:off x="688086" y="1292645"/>
            <a:ext cx="11016234"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system for hate speech detection integrates both text and emoji data to provide an understanding of online communications, particularly in the context of global events like the Paris 2024 Olympics.</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383F597-09CA-CDC6-E23F-4361CBF32C02}"/>
              </a:ext>
            </a:extLst>
          </p:cNvPr>
          <p:cNvSpPr txBox="1"/>
          <p:nvPr/>
        </p:nvSpPr>
        <p:spPr>
          <a:xfrm>
            <a:off x="688086" y="2124749"/>
            <a:ext cx="10677906"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Recognizing that emojis can alter the tone or intent of text, the system combines traditional language processing techniques with emoji sentiment analysis to capture both explicit and implicit hate speech.</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04B8361-01B7-FEC7-C67C-1EBF7C0C53F2}"/>
              </a:ext>
            </a:extLst>
          </p:cNvPr>
          <p:cNvSpPr txBox="1"/>
          <p:nvPr/>
        </p:nvSpPr>
        <p:spPr>
          <a:xfrm>
            <a:off x="688086" y="2967335"/>
            <a:ext cx="10677906"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utilizes two main architectures: Long Short-Term Memory (LSTM) and Bidirectional Long Short-Term Memory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networks.</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CD7F9CF3-6AD3-47BF-4B6D-B5C226F40022}"/>
              </a:ext>
            </a:extLst>
          </p:cNvPr>
          <p:cNvSpPr txBox="1"/>
          <p:nvPr/>
        </p:nvSpPr>
        <p:spPr>
          <a:xfrm>
            <a:off x="688086" y="3881735"/>
            <a:ext cx="10586466"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LSTM captures sequential dependencies within text and emojis, effectively identifying hate speech patterns as they evolve within a sentence. </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5E1FD2B-C384-052B-B20F-3CA0759C03CD}"/>
              </a:ext>
            </a:extLst>
          </p:cNvPr>
          <p:cNvSpPr txBox="1"/>
          <p:nvPr/>
        </p:nvSpPr>
        <p:spPr>
          <a:xfrm>
            <a:off x="688086" y="4796135"/>
            <a:ext cx="11016234"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processing in both forward and backward directions, enhances this understanding by capturing context from surrounding words and emojis.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182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52C084-AA31-7B29-EDE8-8E8E71C671F3}"/>
              </a:ext>
            </a:extLst>
          </p:cNvPr>
          <p:cNvSpPr txBox="1"/>
          <p:nvPr/>
        </p:nvSpPr>
        <p:spPr>
          <a:xfrm>
            <a:off x="2221992" y="155448"/>
            <a:ext cx="735177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endParaRPr lang="en-IN" sz="24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CA7440A-5C26-7987-B7C1-FACC53FBADD4}"/>
              </a:ext>
            </a:extLst>
          </p:cNvPr>
          <p:cNvGraphicFramePr>
            <a:graphicFrameLocks noGrp="1"/>
          </p:cNvGraphicFramePr>
          <p:nvPr>
            <p:extLst>
              <p:ext uri="{D42A27DB-BD31-4B8C-83A1-F6EECF244321}">
                <p14:modId xmlns:p14="http://schemas.microsoft.com/office/powerpoint/2010/main" val="1404404094"/>
              </p:ext>
            </p:extLst>
          </p:nvPr>
        </p:nvGraphicFramePr>
        <p:xfrm>
          <a:off x="217424" y="705568"/>
          <a:ext cx="11523472" cy="5439201"/>
        </p:xfrm>
        <a:graphic>
          <a:graphicData uri="http://schemas.openxmlformats.org/drawingml/2006/table">
            <a:tbl>
              <a:tblPr firstRow="1" bandRow="1">
                <a:tableStyleId>{5940675A-B579-460E-94D1-54222C63F5DA}</a:tableStyleId>
              </a:tblPr>
              <a:tblGrid>
                <a:gridCol w="688185">
                  <a:extLst>
                    <a:ext uri="{9D8B030D-6E8A-4147-A177-3AD203B41FA5}">
                      <a16:colId xmlns:a16="http://schemas.microsoft.com/office/drawing/2014/main" val="3405843923"/>
                    </a:ext>
                  </a:extLst>
                </a:gridCol>
                <a:gridCol w="2483280">
                  <a:extLst>
                    <a:ext uri="{9D8B030D-6E8A-4147-A177-3AD203B41FA5}">
                      <a16:colId xmlns:a16="http://schemas.microsoft.com/office/drawing/2014/main" val="1132456679"/>
                    </a:ext>
                  </a:extLst>
                </a:gridCol>
                <a:gridCol w="2241463">
                  <a:extLst>
                    <a:ext uri="{9D8B030D-6E8A-4147-A177-3AD203B41FA5}">
                      <a16:colId xmlns:a16="http://schemas.microsoft.com/office/drawing/2014/main" val="3175066984"/>
                    </a:ext>
                  </a:extLst>
                </a:gridCol>
                <a:gridCol w="2851076">
                  <a:extLst>
                    <a:ext uri="{9D8B030D-6E8A-4147-A177-3AD203B41FA5}">
                      <a16:colId xmlns:a16="http://schemas.microsoft.com/office/drawing/2014/main" val="2378404247"/>
                    </a:ext>
                  </a:extLst>
                </a:gridCol>
                <a:gridCol w="3259468">
                  <a:extLst>
                    <a:ext uri="{9D8B030D-6E8A-4147-A177-3AD203B41FA5}">
                      <a16:colId xmlns:a16="http://schemas.microsoft.com/office/drawing/2014/main" val="3832775767"/>
                    </a:ext>
                  </a:extLst>
                </a:gridCol>
              </a:tblGrid>
              <a:tr h="518184">
                <a:tc>
                  <a:txBody>
                    <a:bodyPr/>
                    <a:lstStyle/>
                    <a:p>
                      <a:pPr algn="ctr"/>
                      <a:r>
                        <a:rPr lang="en-US" b="1" dirty="0" err="1"/>
                        <a:t>S.No</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TITLE</a:t>
                      </a:r>
                      <a:endParaRPr lang="en-IN" b="1" dirty="0"/>
                    </a:p>
                  </a:txBody>
                  <a:tcPr anchor="ctr">
                    <a:lnL w="12700" cap="flat" cmpd="sng" algn="ctr">
                      <a:solidFill>
                        <a:schemeClr val="tx1"/>
                      </a:solidFill>
                      <a:prstDash val="solid"/>
                      <a:round/>
                      <a:headEnd type="none" w="med" len="med"/>
                      <a:tailEnd type="none" w="med" len="med"/>
                    </a:lnL>
                  </a:tcPr>
                </a:tc>
                <a:tc>
                  <a:txBody>
                    <a:bodyPr/>
                    <a:lstStyle/>
                    <a:p>
                      <a:pPr algn="ctr"/>
                      <a:r>
                        <a:rPr lang="en-US" b="1" dirty="0"/>
                        <a:t>METHODOLOGY</a:t>
                      </a:r>
                      <a:endParaRPr lang="en-IN" b="1" dirty="0"/>
                    </a:p>
                  </a:txBody>
                  <a:tcPr anchor="ctr"/>
                </a:tc>
                <a:tc>
                  <a:txBody>
                    <a:bodyPr/>
                    <a:lstStyle/>
                    <a:p>
                      <a:pPr algn="ctr"/>
                      <a:r>
                        <a:rPr lang="en-US" b="1" dirty="0"/>
                        <a:t>ADVANTAGES</a:t>
                      </a:r>
                      <a:endParaRPr lang="en-IN" b="1" dirty="0"/>
                    </a:p>
                  </a:txBody>
                  <a:tcPr anchor="ctr"/>
                </a:tc>
                <a:tc>
                  <a:txBody>
                    <a:bodyPr/>
                    <a:lstStyle/>
                    <a:p>
                      <a:pPr algn="ctr"/>
                      <a:r>
                        <a:rPr lang="en-US" b="1" dirty="0"/>
                        <a:t>LIMITATIONS</a:t>
                      </a:r>
                      <a:endParaRPr lang="en-IN" b="1" dirty="0"/>
                    </a:p>
                  </a:txBody>
                  <a:tcPr anchor="ctr"/>
                </a:tc>
                <a:extLst>
                  <a:ext uri="{0D108BD9-81ED-4DB2-BD59-A6C34878D82A}">
                    <a16:rowId xmlns:a16="http://schemas.microsoft.com/office/drawing/2014/main" val="3536462047"/>
                  </a:ext>
                </a:extLst>
              </a:tr>
              <a:tr h="1523661">
                <a:tc>
                  <a:txBody>
                    <a:bodyPr/>
                    <a:lstStyle/>
                    <a:p>
                      <a:r>
                        <a:rPr lang="en-US" dirty="0"/>
                        <a:t>1</a:t>
                      </a:r>
                      <a:endParaRPr lang="en-IN" dirty="0"/>
                    </a:p>
                  </a:txBody>
                  <a:tcPr>
                    <a:lnT w="12700" cap="flat" cmpd="sng" algn="ctr">
                      <a:solidFill>
                        <a:schemeClr val="tx1"/>
                      </a:solidFill>
                      <a:prstDash val="solid"/>
                      <a:round/>
                      <a:headEnd type="none" w="med" len="med"/>
                      <a:tailEnd type="none" w="med" len="med"/>
                    </a:lnT>
                  </a:tcPr>
                </a:tc>
                <a:tc>
                  <a:txBody>
                    <a:bodyPr/>
                    <a:lstStyle/>
                    <a:p>
                      <a:r>
                        <a:rPr lang="en-US" dirty="0">
                          <a:latin typeface="Times New Roman" panose="02020603050405020304" pitchFamily="18" charset="0"/>
                          <a:cs typeface="Times New Roman" panose="02020603050405020304" pitchFamily="18" charset="0"/>
                        </a:rPr>
                        <a:t>Detection of Hateful Twitter Users with Graph Convolutional Network Model</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Graph Convolutional Network (GCN) to detect hateful users on Twitter.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Accuracy, Effective Analysis, User Data Integration.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Complex and computationally heavy, Data quality dependent, Limited to twitter</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7536657"/>
                  </a:ext>
                </a:extLst>
              </a:tr>
              <a:tr h="1698678">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Deep Explainable Hate Speech Active Learning on Social-Media Data</a:t>
                      </a:r>
                      <a:endParaRPr lang="en-IN"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Explainable active learning with deep models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Enhances transparency in decision-making, iterative learning.</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Complexity in model interpretability; Requires large labeled datasets for optimal active learning</a:t>
                      </a:r>
                      <a:endParaRPr lang="en-IN" dirty="0">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1734704666"/>
                  </a:ext>
                </a:extLst>
              </a:tr>
              <a:tr h="1698678">
                <a:tc>
                  <a:txBody>
                    <a:bodyPr/>
                    <a:lstStyle/>
                    <a:p>
                      <a:r>
                        <a:rPr lang="en-US" dirty="0"/>
                        <a:t>3</a:t>
                      </a:r>
                      <a:endParaRPr lang="en-IN" dirty="0"/>
                    </a:p>
                  </a:txBody>
                  <a:tcPr/>
                </a:tc>
                <a:tc>
                  <a:txBody>
                    <a:bodyPr/>
                    <a:lstStyle/>
                    <a:p>
                      <a:r>
                        <a:rPr lang="en-US" dirty="0">
                          <a:latin typeface="Times New Roman" panose="02020603050405020304" pitchFamily="18" charset="0"/>
                          <a:cs typeface="Times New Roman" panose="02020603050405020304" pitchFamily="18" charset="0"/>
                        </a:rPr>
                        <a:t>Hate Speech and Offensive Content Identification with Graph Convolutional Networks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Graph Convolutional Networks (GCN) for context-based content detection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Context-aware analysis, effective with offensive content</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Requires structured data for GCNs, high model complexity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0448103"/>
                  </a:ext>
                </a:extLst>
              </a:tr>
            </a:tbl>
          </a:graphicData>
        </a:graphic>
      </p:graphicFrame>
    </p:spTree>
    <p:extLst>
      <p:ext uri="{BB962C8B-B14F-4D97-AF65-F5344CB8AC3E}">
        <p14:creationId xmlns:p14="http://schemas.microsoft.com/office/powerpoint/2010/main" val="163321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3E6E760-BC9A-CCBC-B528-89E95F321AD8}"/>
              </a:ext>
            </a:extLst>
          </p:cNvPr>
          <p:cNvGraphicFramePr>
            <a:graphicFrameLocks noGrp="1"/>
          </p:cNvGraphicFramePr>
          <p:nvPr>
            <p:extLst>
              <p:ext uri="{D42A27DB-BD31-4B8C-83A1-F6EECF244321}">
                <p14:modId xmlns:p14="http://schemas.microsoft.com/office/powerpoint/2010/main" val="1550599108"/>
              </p:ext>
            </p:extLst>
          </p:nvPr>
        </p:nvGraphicFramePr>
        <p:xfrm>
          <a:off x="239776" y="778994"/>
          <a:ext cx="11337637" cy="5612661"/>
        </p:xfrm>
        <a:graphic>
          <a:graphicData uri="http://schemas.openxmlformats.org/drawingml/2006/table">
            <a:tbl>
              <a:tblPr firstRow="1" bandRow="1">
                <a:tableStyleId>{5940675A-B579-460E-94D1-54222C63F5DA}</a:tableStyleId>
              </a:tblPr>
              <a:tblGrid>
                <a:gridCol w="676592">
                  <a:extLst>
                    <a:ext uri="{9D8B030D-6E8A-4147-A177-3AD203B41FA5}">
                      <a16:colId xmlns:a16="http://schemas.microsoft.com/office/drawing/2014/main" val="3405843923"/>
                    </a:ext>
                  </a:extLst>
                </a:gridCol>
                <a:gridCol w="2443347">
                  <a:extLst>
                    <a:ext uri="{9D8B030D-6E8A-4147-A177-3AD203B41FA5}">
                      <a16:colId xmlns:a16="http://schemas.microsoft.com/office/drawing/2014/main" val="1132456679"/>
                    </a:ext>
                  </a:extLst>
                </a:gridCol>
                <a:gridCol w="2205418">
                  <a:extLst>
                    <a:ext uri="{9D8B030D-6E8A-4147-A177-3AD203B41FA5}">
                      <a16:colId xmlns:a16="http://schemas.microsoft.com/office/drawing/2014/main" val="3175066984"/>
                    </a:ext>
                  </a:extLst>
                </a:gridCol>
                <a:gridCol w="2805228">
                  <a:extLst>
                    <a:ext uri="{9D8B030D-6E8A-4147-A177-3AD203B41FA5}">
                      <a16:colId xmlns:a16="http://schemas.microsoft.com/office/drawing/2014/main" val="2378404247"/>
                    </a:ext>
                  </a:extLst>
                </a:gridCol>
                <a:gridCol w="3207052">
                  <a:extLst>
                    <a:ext uri="{9D8B030D-6E8A-4147-A177-3AD203B41FA5}">
                      <a16:colId xmlns:a16="http://schemas.microsoft.com/office/drawing/2014/main" val="3832775767"/>
                    </a:ext>
                  </a:extLst>
                </a:gridCol>
              </a:tblGrid>
              <a:tr h="552486">
                <a:tc>
                  <a:txBody>
                    <a:bodyPr/>
                    <a:lstStyle/>
                    <a:p>
                      <a:pPr algn="ctr"/>
                      <a:r>
                        <a:rPr lang="en-US" b="1" dirty="0" err="1"/>
                        <a:t>S.No</a:t>
                      </a:r>
                      <a:endParaRPr lang="en-IN"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TITLE</a:t>
                      </a:r>
                      <a:endParaRPr lang="en-IN" b="1" dirty="0"/>
                    </a:p>
                  </a:txBody>
                  <a:tcPr anchor="ctr">
                    <a:lnL w="12700" cap="flat" cmpd="sng" algn="ctr">
                      <a:solidFill>
                        <a:schemeClr val="tx1"/>
                      </a:solidFill>
                      <a:prstDash val="solid"/>
                      <a:round/>
                      <a:headEnd type="none" w="med" len="med"/>
                      <a:tailEnd type="none" w="med" len="med"/>
                    </a:lnL>
                  </a:tcPr>
                </a:tc>
                <a:tc>
                  <a:txBody>
                    <a:bodyPr/>
                    <a:lstStyle/>
                    <a:p>
                      <a:pPr algn="ctr"/>
                      <a:r>
                        <a:rPr lang="en-US" b="1" dirty="0"/>
                        <a:t>METHODOLOGY</a:t>
                      </a:r>
                      <a:endParaRPr lang="en-IN" b="1" dirty="0"/>
                    </a:p>
                  </a:txBody>
                  <a:tcPr anchor="ctr"/>
                </a:tc>
                <a:tc>
                  <a:txBody>
                    <a:bodyPr/>
                    <a:lstStyle/>
                    <a:p>
                      <a:pPr algn="ctr"/>
                      <a:r>
                        <a:rPr lang="en-US" b="1" dirty="0"/>
                        <a:t>ADVANTAGES</a:t>
                      </a:r>
                      <a:endParaRPr lang="en-IN" b="1" dirty="0"/>
                    </a:p>
                  </a:txBody>
                  <a:tcPr anchor="ctr"/>
                </a:tc>
                <a:tc>
                  <a:txBody>
                    <a:bodyPr/>
                    <a:lstStyle/>
                    <a:p>
                      <a:pPr algn="ctr"/>
                      <a:r>
                        <a:rPr lang="en-US" b="1" dirty="0"/>
                        <a:t>LIMITATIONS</a:t>
                      </a:r>
                      <a:endParaRPr lang="en-IN" b="1" dirty="0"/>
                    </a:p>
                  </a:txBody>
                  <a:tcPr anchor="ctr"/>
                </a:tc>
                <a:extLst>
                  <a:ext uri="{0D108BD9-81ED-4DB2-BD59-A6C34878D82A}">
                    <a16:rowId xmlns:a16="http://schemas.microsoft.com/office/drawing/2014/main" val="3536462047"/>
                  </a:ext>
                </a:extLst>
              </a:tr>
              <a:tr h="1811127">
                <a:tc>
                  <a:txBody>
                    <a:bodyPr/>
                    <a:lstStyle/>
                    <a:p>
                      <a:r>
                        <a:rPr lang="en-US" dirty="0"/>
                        <a:t>4</a:t>
                      </a:r>
                      <a:endParaRPr lang="en-IN" dirty="0"/>
                    </a:p>
                  </a:txBody>
                  <a:tcPr>
                    <a:lnT w="12700" cap="flat" cmpd="sng" algn="ctr">
                      <a:solidFill>
                        <a:schemeClr val="tx1"/>
                      </a:solidFill>
                      <a:prstDash val="solid"/>
                      <a:round/>
                      <a:headEnd type="none" w="med" len="med"/>
                      <a:tailEnd type="none" w="med" len="med"/>
                    </a:lnT>
                  </a:tcPr>
                </a:tc>
                <a:tc>
                  <a:txBody>
                    <a:bodyPr/>
                    <a:lstStyle/>
                    <a:p>
                      <a:r>
                        <a:rPr lang="en-US" dirty="0">
                          <a:latin typeface="Times New Roman" panose="02020603050405020304" pitchFamily="18" charset="0"/>
                          <a:cs typeface="Times New Roman" panose="02020603050405020304" pitchFamily="18" charset="0"/>
                        </a:rPr>
                        <a:t>Hate Speech and Offensive Content Identification in English and Indo-Aryan Languages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Variety of Machine Learning and Deep Learning models.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Supports multiple languages, extensive benchmarking.</a:t>
                      </a:r>
                    </a:p>
                  </a:txBody>
                  <a:tcPr/>
                </a:tc>
                <a:tc>
                  <a:txBody>
                    <a:bodyPr/>
                    <a:lstStyle/>
                    <a:p>
                      <a:r>
                        <a:rPr lang="en-US" dirty="0">
                          <a:latin typeface="Times New Roman" panose="02020603050405020304" pitchFamily="18" charset="0"/>
                          <a:cs typeface="Times New Roman" panose="02020603050405020304" pitchFamily="18" charset="0"/>
                        </a:rPr>
                        <a:t>Benchmark focus may not reflect real-world efficiency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7536657"/>
                  </a:ext>
                </a:extLst>
              </a:tr>
              <a:tr h="1624524">
                <a:tc>
                  <a:txBody>
                    <a:bodyPr/>
                    <a:lstStyle/>
                    <a:p>
                      <a:r>
                        <a:rPr lang="en-US" dirty="0"/>
                        <a:t>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Deep LSTM with Attention for Sentiment Analysis</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LSTM with attention mechanism</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Mechanism improves model interpretability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Limited to sentiment analysis, can be computationally expensive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34704666"/>
                  </a:ext>
                </a:extLst>
              </a:tr>
              <a:tr h="1624524">
                <a:tc>
                  <a:txBody>
                    <a:bodyPr/>
                    <a:lstStyle/>
                    <a:p>
                      <a:r>
                        <a:rPr lang="en-US" dirty="0"/>
                        <a:t>6</a:t>
                      </a:r>
                      <a:endParaRPr lang="en-IN" dirty="0"/>
                    </a:p>
                  </a:txBody>
                  <a:tcPr/>
                </a:tc>
                <a:tc>
                  <a:txBody>
                    <a:bodyPr/>
                    <a:lstStyle/>
                    <a:p>
                      <a:r>
                        <a:rPr lang="en-US" dirty="0">
                          <a:latin typeface="Times New Roman" panose="02020603050405020304" pitchFamily="18" charset="0"/>
                          <a:cs typeface="Times New Roman" panose="02020603050405020304" pitchFamily="18" charset="0"/>
                        </a:rPr>
                        <a:t>Hate Speech Detection on Twitter Using BERT Algorithm</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BERT model for hate speech detection on Twitter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accuracy with BERT, effective for text-rich environments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Requires large datasets for fine-tuning, complex preprocessing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0448103"/>
                  </a:ext>
                </a:extLst>
              </a:tr>
            </a:tbl>
          </a:graphicData>
        </a:graphic>
      </p:graphicFrame>
      <p:sp>
        <p:nvSpPr>
          <p:cNvPr id="3" name="TextBox 2">
            <a:extLst>
              <a:ext uri="{FF2B5EF4-FFF2-40B4-BE49-F238E27FC236}">
                <a16:creationId xmlns:a16="http://schemas.microsoft.com/office/drawing/2014/main" id="{8DFC54A0-CA44-AA15-C290-1D3E5E830669}"/>
              </a:ext>
            </a:extLst>
          </p:cNvPr>
          <p:cNvSpPr txBox="1"/>
          <p:nvPr/>
        </p:nvSpPr>
        <p:spPr>
          <a:xfrm>
            <a:off x="2221992" y="155448"/>
            <a:ext cx="735177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LITERATURE SURVEY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946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DC5CBF-BEEE-8A10-B8A9-B9C2838927D8}"/>
              </a:ext>
            </a:extLst>
          </p:cNvPr>
          <p:cNvSpPr txBox="1"/>
          <p:nvPr/>
        </p:nvSpPr>
        <p:spPr>
          <a:xfrm>
            <a:off x="2852928" y="210312"/>
            <a:ext cx="6528816" cy="52322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SYSTEM</a:t>
            </a:r>
            <a:r>
              <a:rPr lang="en-US" sz="28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ARCHITECTURE</a:t>
            </a:r>
            <a:endParaRPr lang="en-IN" sz="24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97C2EEB-FC3A-9633-EF52-E842D9F2C55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6152" y="852122"/>
            <a:ext cx="9857232" cy="5589331"/>
          </a:xfrm>
          <a:prstGeom prst="rect">
            <a:avLst/>
          </a:prstGeom>
          <a:noFill/>
          <a:ln>
            <a:noFill/>
          </a:ln>
        </p:spPr>
      </p:pic>
    </p:spTree>
    <p:extLst>
      <p:ext uri="{BB962C8B-B14F-4D97-AF65-F5344CB8AC3E}">
        <p14:creationId xmlns:p14="http://schemas.microsoft.com/office/powerpoint/2010/main" val="61221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4BB270-DD38-65A6-116D-EB00A7615BE5}"/>
              </a:ext>
            </a:extLst>
          </p:cNvPr>
          <p:cNvSpPr txBox="1"/>
          <p:nvPr/>
        </p:nvSpPr>
        <p:spPr>
          <a:xfrm>
            <a:off x="934974" y="336542"/>
            <a:ext cx="6094476"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SYSTEM REQUIREMENTS:</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6122686-696F-C437-F1C6-C598ACC7FB26}"/>
              </a:ext>
            </a:extLst>
          </p:cNvPr>
          <p:cNvSpPr txBox="1"/>
          <p:nvPr/>
        </p:nvSpPr>
        <p:spPr>
          <a:xfrm>
            <a:off x="934974" y="705874"/>
            <a:ext cx="10376154" cy="6186309"/>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Python Libraries:</a:t>
            </a:r>
            <a:endParaRPr lang="en-IN"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nltk</a:t>
            </a:r>
            <a:r>
              <a:rPr lang="en-IN" dirty="0">
                <a:latin typeface="Times New Roman" panose="02020603050405020304" pitchFamily="18" charset="0"/>
                <a:cs typeface="Times New Roman" panose="02020603050405020304" pitchFamily="18" charset="0"/>
              </a:rPr>
              <a:t>: For natural language processing tasks such as tokenization, </a:t>
            </a:r>
            <a:r>
              <a:rPr lang="en-IN" dirty="0" err="1">
                <a:latin typeface="Times New Roman" panose="02020603050405020304" pitchFamily="18" charset="0"/>
                <a:cs typeface="Times New Roman" panose="02020603050405020304" pitchFamily="18" charset="0"/>
              </a:rPr>
              <a:t>stopword</a:t>
            </a:r>
            <a:r>
              <a:rPr lang="en-IN" dirty="0">
                <a:latin typeface="Times New Roman" panose="02020603050405020304" pitchFamily="18" charset="0"/>
                <a:cs typeface="Times New Roman" panose="02020603050405020304" pitchFamily="18" charset="0"/>
              </a:rPr>
              <a:t> removal, lemmatization, and part-of-speech tagging.</a:t>
            </a:r>
          </a:p>
          <a:p>
            <a:pPr marL="742950" lvl="1"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Pandas and </a:t>
            </a:r>
            <a:r>
              <a:rPr lang="en-IN" b="1"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For data manipulation, analysis, numerical operations and array handling. </a:t>
            </a:r>
          </a:p>
          <a:p>
            <a:pPr marL="742950" lvl="1"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emoji</a:t>
            </a:r>
            <a:r>
              <a:rPr lang="en-IN" dirty="0">
                <a:latin typeface="Times New Roman" panose="02020603050405020304" pitchFamily="18" charset="0"/>
                <a:cs typeface="Times New Roman" panose="02020603050405020304" pitchFamily="18" charset="0"/>
              </a:rPr>
              <a:t>: For processing and handling emojis in text.</a:t>
            </a:r>
          </a:p>
          <a:p>
            <a:pPr marL="742950" lvl="1" indent="-285750">
              <a:lnSpc>
                <a:spcPct val="150000"/>
              </a:lnSpc>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textblob</a:t>
            </a:r>
            <a:r>
              <a:rPr lang="en-IN" dirty="0">
                <a:latin typeface="Times New Roman" panose="02020603050405020304" pitchFamily="18" charset="0"/>
                <a:cs typeface="Times New Roman" panose="02020603050405020304" pitchFamily="18" charset="0"/>
              </a:rPr>
              <a:t>: For text polarity analysis and simple text processing.</a:t>
            </a:r>
          </a:p>
          <a:p>
            <a:pPr marL="742950" lvl="1" indent="-285750">
              <a:lnSpc>
                <a:spcPct val="150000"/>
              </a:lnSpc>
              <a:buFont typeface="Arial" panose="020B0604020202020204" pitchFamily="34" charset="0"/>
              <a:buChar char="•"/>
            </a:pPr>
            <a:r>
              <a:rPr lang="en-IN" b="1" dirty="0" err="1">
                <a:latin typeface="Times New Roman" panose="02020603050405020304" pitchFamily="18" charset="0"/>
                <a:cs typeface="Times New Roman" panose="02020603050405020304" pitchFamily="18" charset="0"/>
              </a:rPr>
              <a:t>gensim</a:t>
            </a:r>
            <a:r>
              <a:rPr lang="en-IN" dirty="0">
                <a:latin typeface="Times New Roman" panose="02020603050405020304" pitchFamily="18" charset="0"/>
                <a:cs typeface="Times New Roman" panose="02020603050405020304" pitchFamily="18" charset="0"/>
              </a:rPr>
              <a:t>: For using pre-trained word embeddings for </a:t>
            </a:r>
            <a:r>
              <a:rPr lang="en-IN" dirty="0" err="1">
                <a:latin typeface="Times New Roman" panose="02020603050405020304" pitchFamily="18" charset="0"/>
                <a:cs typeface="Times New Roman" panose="02020603050405020304" pitchFamily="18" charset="0"/>
              </a:rPr>
              <a:t>GloVe</a:t>
            </a:r>
            <a:r>
              <a:rPr lang="en-IN" dirty="0">
                <a:latin typeface="Times New Roman" panose="02020603050405020304" pitchFamily="18" charset="0"/>
                <a:cs typeface="Times New Roman" panose="02020603050405020304" pitchFamily="18" charset="0"/>
              </a:rPr>
              <a:t>.</a:t>
            </a:r>
          </a:p>
          <a:p>
            <a:pPr>
              <a:lnSpc>
                <a:spcPct val="150000"/>
              </a:lnSpc>
            </a:pPr>
            <a:r>
              <a:rPr lang="en-US" b="1" dirty="0">
                <a:latin typeface="Times New Roman" panose="02020603050405020304" pitchFamily="18" charset="0"/>
                <a:cs typeface="Times New Roman" panose="02020603050405020304" pitchFamily="18" charset="0"/>
              </a:rPr>
              <a:t>Developer Platform: </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 </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primary interactive environment for writing, testing, and visualizing code and models.</a:t>
            </a:r>
          </a:p>
          <a:p>
            <a:pPr>
              <a:lnSpc>
                <a:spcPct val="150000"/>
              </a:lnSpc>
            </a:pPr>
            <a:r>
              <a:rPr lang="en-IN" b="1" dirty="0">
                <a:latin typeface="Times New Roman" panose="02020603050405020304" pitchFamily="18" charset="0"/>
                <a:cs typeface="Times New Roman" panose="02020603050405020304" pitchFamily="18" charset="0"/>
              </a:rPr>
              <a:t>Machine Learning &amp; Deep Learning:</a:t>
            </a:r>
            <a:endParaRPr lang="en-IN"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scikit-learn</a:t>
            </a:r>
            <a:r>
              <a:rPr lang="en-IN" dirty="0">
                <a:latin typeface="Times New Roman" panose="02020603050405020304" pitchFamily="18" charset="0"/>
                <a:cs typeface="Times New Roman" panose="02020603050405020304" pitchFamily="18" charset="0"/>
              </a:rPr>
              <a:t>: For data preprocessing and feature extraction.</a:t>
            </a:r>
          </a:p>
          <a:p>
            <a:pPr marL="742950" lvl="1"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TensorFlow/</a:t>
            </a:r>
            <a:r>
              <a:rPr lang="en-IN" b="1"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For building and training deep learning models, such as LSTM and </a:t>
            </a:r>
            <a:r>
              <a:rPr lang="en-IN" dirty="0" err="1">
                <a:latin typeface="Times New Roman" panose="02020603050405020304" pitchFamily="18" charset="0"/>
                <a:cs typeface="Times New Roman" panose="02020603050405020304" pitchFamily="18" charset="0"/>
              </a:rPr>
              <a:t>BiLSTM</a:t>
            </a:r>
            <a:r>
              <a:rPr lang="en-IN" dirty="0">
                <a:latin typeface="Times New Roman" panose="02020603050405020304" pitchFamily="18" charset="0"/>
                <a:cs typeface="Times New Roman" panose="02020603050405020304" pitchFamily="18" charset="0"/>
              </a:rPr>
              <a:t>, for hate speech detection.</a:t>
            </a:r>
          </a:p>
          <a:p>
            <a:pPr marL="742950" lvl="1" indent="-28575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Adam Optimizer</a:t>
            </a:r>
            <a:r>
              <a:rPr lang="en-IN" dirty="0">
                <a:latin typeface="Times New Roman" panose="02020603050405020304" pitchFamily="18" charset="0"/>
                <a:cs typeface="Times New Roman" panose="02020603050405020304" pitchFamily="18" charset="0"/>
              </a:rPr>
              <a:t>: For optimizing the neural network models.</a:t>
            </a:r>
          </a:p>
          <a:p>
            <a:endParaRPr lang="en-IN" dirty="0"/>
          </a:p>
        </p:txBody>
      </p:sp>
    </p:spTree>
    <p:extLst>
      <p:ext uri="{BB962C8B-B14F-4D97-AF65-F5344CB8AC3E}">
        <p14:creationId xmlns:p14="http://schemas.microsoft.com/office/powerpoint/2010/main" val="3757469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872654-99A9-DA86-3EE3-E222907D7112}"/>
              </a:ext>
            </a:extLst>
          </p:cNvPr>
          <p:cNvSpPr txBox="1"/>
          <p:nvPr/>
        </p:nvSpPr>
        <p:spPr>
          <a:xfrm>
            <a:off x="2871216" y="43148"/>
            <a:ext cx="7050024"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MODULE DESCRIPTION</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BC1A108-A730-8E1E-F173-D02E3BFEBD2B}"/>
              </a:ext>
            </a:extLst>
          </p:cNvPr>
          <p:cNvSpPr txBox="1"/>
          <p:nvPr/>
        </p:nvSpPr>
        <p:spPr>
          <a:xfrm>
            <a:off x="886968" y="595975"/>
            <a:ext cx="6094476"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Data Preprocessing and Feature Extraction:</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7DE55D7-9C37-4911-6B4A-C48FA536CC80}"/>
              </a:ext>
            </a:extLst>
          </p:cNvPr>
          <p:cNvSpPr txBox="1"/>
          <p:nvPr/>
        </p:nvSpPr>
        <p:spPr>
          <a:xfrm>
            <a:off x="886968" y="965307"/>
            <a:ext cx="10661904" cy="6275051"/>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This module prepares raw twitter tweets for effective hate speech detection.</a:t>
            </a:r>
          </a:p>
          <a:p>
            <a:pPr lvl="1">
              <a:lnSpc>
                <a:spcPct val="150000"/>
              </a:lnSpc>
            </a:pPr>
            <a:r>
              <a:rPr lang="en-IN" b="1" dirty="0">
                <a:latin typeface="Times New Roman" panose="02020603050405020304" pitchFamily="18" charset="0"/>
                <a:cs typeface="Times New Roman" panose="02020603050405020304" pitchFamily="18" charset="0"/>
              </a:rPr>
              <a:t>Data Cleaning</a:t>
            </a:r>
            <a:r>
              <a:rPr lang="en-IN" dirty="0">
                <a:latin typeface="Times New Roman" panose="02020603050405020304" pitchFamily="18" charset="0"/>
                <a:cs typeface="Times New Roman" panose="02020603050405020304" pitchFamily="18" charset="0"/>
              </a:rPr>
              <a:t>:  Remove duplicates and Handling Missing Values </a:t>
            </a:r>
          </a:p>
          <a:p>
            <a:pPr lvl="1">
              <a:lnSpc>
                <a:spcPct val="150000"/>
              </a:lnSpc>
            </a:pPr>
            <a:r>
              <a:rPr lang="en-IN" b="1" dirty="0">
                <a:latin typeface="Times New Roman" panose="02020603050405020304" pitchFamily="18" charset="0"/>
                <a:cs typeface="Times New Roman" panose="02020603050405020304" pitchFamily="18" charset="0"/>
              </a:rPr>
              <a:t>Text Standardization</a:t>
            </a:r>
            <a:r>
              <a:rPr lang="en-IN" dirty="0">
                <a:latin typeface="Times New Roman" panose="02020603050405020304" pitchFamily="18" charset="0"/>
                <a:cs typeface="Times New Roman" panose="02020603050405020304" pitchFamily="18" charset="0"/>
              </a:rPr>
              <a:t>: remove stop words, apply lemmatization to get root words and eliminating non-ASCII characters.</a:t>
            </a:r>
          </a:p>
          <a:p>
            <a:pPr lvl="1">
              <a:lnSpc>
                <a:spcPct val="150000"/>
              </a:lnSpc>
            </a:pPr>
            <a:r>
              <a:rPr lang="en-IN" b="1" dirty="0">
                <a:latin typeface="Times New Roman" panose="02020603050405020304" pitchFamily="18" charset="0"/>
                <a:cs typeface="Times New Roman" panose="02020603050405020304" pitchFamily="18" charset="0"/>
              </a:rPr>
              <a:t>Emoji Transformation: </a:t>
            </a:r>
            <a:r>
              <a:rPr lang="en-IN" dirty="0">
                <a:latin typeface="Times New Roman" panose="02020603050405020304" pitchFamily="18" charset="0"/>
                <a:cs typeface="Times New Roman" panose="02020603050405020304" pitchFamily="18" charset="0"/>
              </a:rPr>
              <a:t>Converting Text into Emoji, allowing model to interpret emotional clues in post.</a:t>
            </a:r>
          </a:p>
          <a:p>
            <a:pPr>
              <a:lnSpc>
                <a:spcPct val="150000"/>
              </a:lnSpc>
            </a:pPr>
            <a:r>
              <a:rPr lang="en-US" dirty="0">
                <a:latin typeface="Times New Roman" panose="02020603050405020304" pitchFamily="18" charset="0"/>
                <a:cs typeface="Times New Roman" panose="02020603050405020304" pitchFamily="18" charset="0"/>
              </a:rPr>
              <a:t>Once the data is preprocessed, feature extraction generates inputs that enable the model to understand both text and emoji contexts.</a:t>
            </a:r>
          </a:p>
          <a:p>
            <a:pPr lvl="1">
              <a:lnSpc>
                <a:spcPct val="150000"/>
              </a:lnSpc>
            </a:pPr>
            <a:r>
              <a:rPr lang="en-IN" b="1" dirty="0">
                <a:latin typeface="Times New Roman" panose="02020603050405020304" pitchFamily="18" charset="0"/>
                <a:cs typeface="Times New Roman" panose="02020603050405020304" pitchFamily="18" charset="0"/>
              </a:rPr>
              <a:t>Word Embeddings: </a:t>
            </a:r>
            <a:r>
              <a:rPr lang="en-IN" dirty="0">
                <a:latin typeface="Times New Roman" panose="02020603050405020304" pitchFamily="18" charset="0"/>
                <a:cs typeface="Times New Roman" panose="02020603050405020304" pitchFamily="18" charset="0"/>
              </a:rPr>
              <a:t>Using </a:t>
            </a:r>
            <a:r>
              <a:rPr lang="en-IN" dirty="0" err="1">
                <a:latin typeface="Times New Roman" panose="02020603050405020304" pitchFamily="18" charset="0"/>
                <a:cs typeface="Times New Roman" panose="02020603050405020304" pitchFamily="18" charset="0"/>
              </a:rPr>
              <a:t>GloVe</a:t>
            </a:r>
            <a:r>
              <a:rPr lang="en-IN" dirty="0">
                <a:latin typeface="Times New Roman" panose="02020603050405020304" pitchFamily="18" charset="0"/>
                <a:cs typeface="Times New Roman" panose="02020603050405020304" pitchFamily="18" charset="0"/>
              </a:rPr>
              <a:t> embedding to convert words into vectors.</a:t>
            </a:r>
          </a:p>
          <a:p>
            <a:pPr lvl="1">
              <a:lnSpc>
                <a:spcPct val="150000"/>
              </a:lnSpc>
            </a:pPr>
            <a:r>
              <a:rPr lang="en-IN" b="1" dirty="0">
                <a:latin typeface="Times New Roman" panose="02020603050405020304" pitchFamily="18" charset="0"/>
                <a:cs typeface="Times New Roman" panose="02020603050405020304" pitchFamily="18" charset="0"/>
              </a:rPr>
              <a:t>Emoji Embeddings: </a:t>
            </a:r>
            <a:r>
              <a:rPr lang="en-US" dirty="0">
                <a:latin typeface="Times New Roman" panose="02020603050405020304" pitchFamily="18" charset="0"/>
                <a:cs typeface="Times New Roman" panose="02020603050405020304" pitchFamily="18" charset="0"/>
              </a:rPr>
              <a:t>Convert emojis into descriptive vector forms, enhancing the model’s ability to understand non-verbal sentiment.</a:t>
            </a:r>
          </a:p>
          <a:p>
            <a:pPr lvl="1">
              <a:lnSpc>
                <a:spcPct val="150000"/>
              </a:lnSpc>
            </a:pPr>
            <a:r>
              <a:rPr lang="en-US" b="1" dirty="0">
                <a:latin typeface="Times New Roman" panose="02020603050405020304" pitchFamily="18" charset="0"/>
                <a:cs typeface="Times New Roman" panose="02020603050405020304" pitchFamily="18" charset="0"/>
              </a:rPr>
              <a:t>N-grams</a:t>
            </a:r>
            <a:r>
              <a:rPr lang="en-US" dirty="0">
                <a:latin typeface="Times New Roman" panose="02020603050405020304" pitchFamily="18" charset="0"/>
                <a:cs typeface="Times New Roman" panose="02020603050405020304" pitchFamily="18" charset="0"/>
              </a:rPr>
              <a:t>: Identify frequent bigrams (two-word phrases) that may indicate hate speech, improving detection accuracy.</a:t>
            </a:r>
          </a:p>
          <a:p>
            <a:pPr lvl="1">
              <a:lnSpc>
                <a:spcPct val="150000"/>
              </a:lnSpc>
            </a:pPr>
            <a:r>
              <a:rPr lang="en-US" b="1" dirty="0">
                <a:latin typeface="Times New Roman" panose="02020603050405020304" pitchFamily="18" charset="0"/>
                <a:cs typeface="Times New Roman" panose="02020603050405020304" pitchFamily="18" charset="0"/>
              </a:rPr>
              <a:t>Sentiment Scoring</a:t>
            </a:r>
            <a:r>
              <a:rPr lang="en-US" dirty="0">
                <a:latin typeface="Times New Roman" panose="02020603050405020304" pitchFamily="18" charset="0"/>
                <a:cs typeface="Times New Roman" panose="02020603050405020304" pitchFamily="18" charset="0"/>
              </a:rPr>
              <a:t>: Use </a:t>
            </a:r>
            <a:r>
              <a:rPr lang="en-US" dirty="0" err="1">
                <a:latin typeface="Times New Roman" panose="02020603050405020304" pitchFamily="18" charset="0"/>
                <a:cs typeface="Times New Roman" panose="02020603050405020304" pitchFamily="18" charset="0"/>
              </a:rPr>
              <a:t>TextBlob</a:t>
            </a:r>
            <a:r>
              <a:rPr lang="en-US" dirty="0">
                <a:latin typeface="Times New Roman" panose="02020603050405020304" pitchFamily="18" charset="0"/>
                <a:cs typeface="Times New Roman" panose="02020603050405020304" pitchFamily="18" charset="0"/>
              </a:rPr>
              <a:t> to assign a sentiment score (-1 to 1) to each post, helping the model detect hate speech through tone analysis.</a:t>
            </a:r>
          </a:p>
          <a:p>
            <a:pPr>
              <a:lnSpc>
                <a:spcPct val="150000"/>
              </a:lnSpc>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9496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3BD61D-3394-E6D8-72B0-1C55B5D115B2}"/>
              </a:ext>
            </a:extLst>
          </p:cNvPr>
          <p:cNvPicPr>
            <a:picLocks noChangeAspect="1"/>
          </p:cNvPicPr>
          <p:nvPr/>
        </p:nvPicPr>
        <p:blipFill>
          <a:blip r:embed="rId2"/>
          <a:stretch>
            <a:fillRect/>
          </a:stretch>
        </p:blipFill>
        <p:spPr>
          <a:xfrm>
            <a:off x="628902" y="1944394"/>
            <a:ext cx="10522331" cy="1472380"/>
          </a:xfrm>
          <a:prstGeom prst="rect">
            <a:avLst/>
          </a:prstGeom>
        </p:spPr>
      </p:pic>
      <p:pic>
        <p:nvPicPr>
          <p:cNvPr id="3" name="Picture 2">
            <a:extLst>
              <a:ext uri="{FF2B5EF4-FFF2-40B4-BE49-F238E27FC236}">
                <a16:creationId xmlns:a16="http://schemas.microsoft.com/office/drawing/2014/main" id="{DF14F401-C52F-B952-6977-8FE13D65BA67}"/>
              </a:ext>
            </a:extLst>
          </p:cNvPr>
          <p:cNvPicPr>
            <a:picLocks noChangeAspect="1"/>
          </p:cNvPicPr>
          <p:nvPr/>
        </p:nvPicPr>
        <p:blipFill>
          <a:blip r:embed="rId3"/>
          <a:stretch>
            <a:fillRect/>
          </a:stretch>
        </p:blipFill>
        <p:spPr>
          <a:xfrm>
            <a:off x="628902" y="4041625"/>
            <a:ext cx="10650348" cy="2110954"/>
          </a:xfrm>
          <a:prstGeom prst="rect">
            <a:avLst/>
          </a:prstGeom>
        </p:spPr>
      </p:pic>
      <p:sp>
        <p:nvSpPr>
          <p:cNvPr id="5" name="TextBox 4">
            <a:extLst>
              <a:ext uri="{FF2B5EF4-FFF2-40B4-BE49-F238E27FC236}">
                <a16:creationId xmlns:a16="http://schemas.microsoft.com/office/drawing/2014/main" id="{E40584F4-7FB9-885E-C771-0DED5B947F5C}"/>
              </a:ext>
            </a:extLst>
          </p:cNvPr>
          <p:cNvSpPr txBox="1"/>
          <p:nvPr/>
        </p:nvSpPr>
        <p:spPr>
          <a:xfrm>
            <a:off x="541908" y="1423214"/>
            <a:ext cx="609447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Raw Data:</a:t>
            </a:r>
          </a:p>
        </p:txBody>
      </p:sp>
      <p:sp>
        <p:nvSpPr>
          <p:cNvPr id="6" name="TextBox 5">
            <a:extLst>
              <a:ext uri="{FF2B5EF4-FFF2-40B4-BE49-F238E27FC236}">
                <a16:creationId xmlns:a16="http://schemas.microsoft.com/office/drawing/2014/main" id="{846A8906-42F3-66CB-B7E0-AF4C2045B753}"/>
              </a:ext>
            </a:extLst>
          </p:cNvPr>
          <p:cNvSpPr txBox="1"/>
          <p:nvPr/>
        </p:nvSpPr>
        <p:spPr>
          <a:xfrm>
            <a:off x="541908" y="3559924"/>
            <a:ext cx="6094476" cy="369332"/>
          </a:xfrm>
          <a:prstGeom prst="rect">
            <a:avLst/>
          </a:prstGeom>
          <a:noFill/>
        </p:spPr>
        <p:txBody>
          <a:bodyPr wrap="square">
            <a:spAutoFit/>
          </a:bodyPr>
          <a:lstStyle/>
          <a:p>
            <a:r>
              <a:rPr lang="en-US" b="1">
                <a:latin typeface="Times New Roman" panose="02020603050405020304" pitchFamily="18" charset="0"/>
                <a:cs typeface="Times New Roman" panose="02020603050405020304" pitchFamily="18" charset="0"/>
              </a:rPr>
              <a:t>Pre-Processed Data:</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D3E1D9D-868F-C082-8782-2A02BC5AAE08}"/>
              </a:ext>
            </a:extLst>
          </p:cNvPr>
          <p:cNvSpPr txBox="1"/>
          <p:nvPr/>
        </p:nvSpPr>
        <p:spPr>
          <a:xfrm>
            <a:off x="541908" y="741457"/>
            <a:ext cx="609447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Data Pre-Processing:</a:t>
            </a:r>
          </a:p>
        </p:txBody>
      </p:sp>
    </p:spTree>
    <p:extLst>
      <p:ext uri="{BB962C8B-B14F-4D97-AF65-F5344CB8AC3E}">
        <p14:creationId xmlns:p14="http://schemas.microsoft.com/office/powerpoint/2010/main" val="3210311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4E71EF-4310-FD9C-FDAD-548971F414A9}"/>
              </a:ext>
            </a:extLst>
          </p:cNvPr>
          <p:cNvPicPr>
            <a:picLocks noChangeAspect="1"/>
          </p:cNvPicPr>
          <p:nvPr/>
        </p:nvPicPr>
        <p:blipFill>
          <a:blip r:embed="rId2"/>
          <a:stretch>
            <a:fillRect/>
          </a:stretch>
        </p:blipFill>
        <p:spPr>
          <a:xfrm>
            <a:off x="356616" y="1175986"/>
            <a:ext cx="11228832" cy="4905400"/>
          </a:xfrm>
          <a:prstGeom prst="rect">
            <a:avLst/>
          </a:prstGeom>
        </p:spPr>
      </p:pic>
      <p:sp>
        <p:nvSpPr>
          <p:cNvPr id="5" name="TextBox 4">
            <a:extLst>
              <a:ext uri="{FF2B5EF4-FFF2-40B4-BE49-F238E27FC236}">
                <a16:creationId xmlns:a16="http://schemas.microsoft.com/office/drawing/2014/main" id="{C1BB795F-8A1C-2CF2-3AE8-3DF3A200A64D}"/>
              </a:ext>
            </a:extLst>
          </p:cNvPr>
          <p:cNvSpPr txBox="1"/>
          <p:nvPr/>
        </p:nvSpPr>
        <p:spPr>
          <a:xfrm>
            <a:off x="356616" y="591948"/>
            <a:ext cx="609447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Feature Extraction:</a:t>
            </a:r>
          </a:p>
        </p:txBody>
      </p:sp>
    </p:spTree>
    <p:extLst>
      <p:ext uri="{BB962C8B-B14F-4D97-AF65-F5344CB8AC3E}">
        <p14:creationId xmlns:p14="http://schemas.microsoft.com/office/powerpoint/2010/main" val="361257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6DE27A-4B98-D998-BB3E-51AF6B494CF0}"/>
              </a:ext>
            </a:extLst>
          </p:cNvPr>
          <p:cNvSpPr txBox="1"/>
          <p:nvPr/>
        </p:nvSpPr>
        <p:spPr>
          <a:xfrm>
            <a:off x="678942" y="382262"/>
            <a:ext cx="609447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Model Implementation:</a:t>
            </a:r>
          </a:p>
        </p:txBody>
      </p:sp>
      <p:sp>
        <p:nvSpPr>
          <p:cNvPr id="5" name="TextBox 4">
            <a:extLst>
              <a:ext uri="{FF2B5EF4-FFF2-40B4-BE49-F238E27FC236}">
                <a16:creationId xmlns:a16="http://schemas.microsoft.com/office/drawing/2014/main" id="{6891CB6A-A3A6-2D73-9F02-4F2235E70235}"/>
              </a:ext>
            </a:extLst>
          </p:cNvPr>
          <p:cNvSpPr txBox="1"/>
          <p:nvPr/>
        </p:nvSpPr>
        <p:spPr>
          <a:xfrm>
            <a:off x="678942" y="902131"/>
            <a:ext cx="10851642" cy="4247317"/>
          </a:xfrm>
          <a:prstGeom prst="rect">
            <a:avLst/>
          </a:prstGeom>
          <a:noFill/>
        </p:spPr>
        <p:txBody>
          <a:bodyPr wrap="square">
            <a:spAutoFit/>
          </a:bodyPr>
          <a:lstStyle/>
          <a:p>
            <a:pPr>
              <a:lnSpc>
                <a:spcPct val="200000"/>
              </a:lnSpc>
            </a:pPr>
            <a:r>
              <a:rPr lang="en-IN" dirty="0">
                <a:latin typeface="Times New Roman" panose="02020603050405020304" pitchFamily="18" charset="0"/>
                <a:cs typeface="Times New Roman" panose="02020603050405020304" pitchFamily="18" charset="0"/>
              </a:rPr>
              <a:t>Here I am using LSTM and Bi-LSTM Model to implement in my Datasets.</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LSTM captures sequential dependencies in social media posts, helping detect hate speech patterns by understanding the order of words and emojis</a:t>
            </a:r>
            <a:r>
              <a:rPr lang="en-IN" dirty="0">
                <a:latin typeface="Times New Roman" panose="02020603050405020304" pitchFamily="18" charset="0"/>
                <a:cs typeface="Times New Roman" panose="02020603050405020304" pitchFamily="18" charset="0"/>
              </a:rPr>
              <a:t>.</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LSTM gates (forget, input, output) control the flow of information, allowing the model to remember relevant context and ignore irrelevant details over long text sequences.</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Bi-LSTM processes text in both directions, capturing context from both preceding and following words, which improves understanding of phrases with complex meanings.</a:t>
            </a:r>
          </a:p>
          <a:p>
            <a:endParaRPr lang="en-IN" dirty="0"/>
          </a:p>
        </p:txBody>
      </p:sp>
    </p:spTree>
    <p:extLst>
      <p:ext uri="{BB962C8B-B14F-4D97-AF65-F5344CB8AC3E}">
        <p14:creationId xmlns:p14="http://schemas.microsoft.com/office/powerpoint/2010/main" val="481038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7FD035-E82B-6813-8F8D-FAB75B060FBA}"/>
              </a:ext>
            </a:extLst>
          </p:cNvPr>
          <p:cNvSpPr txBox="1"/>
          <p:nvPr/>
        </p:nvSpPr>
        <p:spPr>
          <a:xfrm>
            <a:off x="693039" y="249674"/>
            <a:ext cx="10805922"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EXPERIMENTAL RESULT</a:t>
            </a:r>
            <a:endParaRPr lang="en-IN" sz="24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DBB3807-3ECD-77F5-5436-46BE7AD186A3}"/>
              </a:ext>
            </a:extLst>
          </p:cNvPr>
          <p:cNvPicPr>
            <a:picLocks noChangeAspect="1"/>
          </p:cNvPicPr>
          <p:nvPr/>
        </p:nvPicPr>
        <p:blipFill>
          <a:blip r:embed="rId2"/>
          <a:stretch>
            <a:fillRect/>
          </a:stretch>
        </p:blipFill>
        <p:spPr>
          <a:xfrm>
            <a:off x="1841830" y="2506529"/>
            <a:ext cx="8225713" cy="4164918"/>
          </a:xfrm>
          <a:prstGeom prst="rect">
            <a:avLst/>
          </a:prstGeom>
        </p:spPr>
      </p:pic>
      <p:graphicFrame>
        <p:nvGraphicFramePr>
          <p:cNvPr id="12" name="Table 11">
            <a:extLst>
              <a:ext uri="{FF2B5EF4-FFF2-40B4-BE49-F238E27FC236}">
                <a16:creationId xmlns:a16="http://schemas.microsoft.com/office/drawing/2014/main" id="{2B72A48D-294D-FDFB-45CE-664D5A4F37BA}"/>
              </a:ext>
            </a:extLst>
          </p:cNvPr>
          <p:cNvGraphicFramePr>
            <a:graphicFrameLocks noGrp="1"/>
          </p:cNvGraphicFramePr>
          <p:nvPr>
            <p:extLst>
              <p:ext uri="{D42A27DB-BD31-4B8C-83A1-F6EECF244321}">
                <p14:modId xmlns:p14="http://schemas.microsoft.com/office/powerpoint/2010/main" val="1567291383"/>
              </p:ext>
            </p:extLst>
          </p:nvPr>
        </p:nvGraphicFramePr>
        <p:xfrm>
          <a:off x="2297683" y="1150736"/>
          <a:ext cx="7596633" cy="1118277"/>
        </p:xfrm>
        <a:graphic>
          <a:graphicData uri="http://schemas.openxmlformats.org/drawingml/2006/table">
            <a:tbl>
              <a:tblPr firstRow="1" bandRow="1">
                <a:tableStyleId>{5940675A-B579-460E-94D1-54222C63F5DA}</a:tableStyleId>
              </a:tblPr>
              <a:tblGrid>
                <a:gridCol w="2532211">
                  <a:extLst>
                    <a:ext uri="{9D8B030D-6E8A-4147-A177-3AD203B41FA5}">
                      <a16:colId xmlns:a16="http://schemas.microsoft.com/office/drawing/2014/main" val="4045710780"/>
                    </a:ext>
                  </a:extLst>
                </a:gridCol>
                <a:gridCol w="2532211">
                  <a:extLst>
                    <a:ext uri="{9D8B030D-6E8A-4147-A177-3AD203B41FA5}">
                      <a16:colId xmlns:a16="http://schemas.microsoft.com/office/drawing/2014/main" val="241840257"/>
                    </a:ext>
                  </a:extLst>
                </a:gridCol>
                <a:gridCol w="2532211">
                  <a:extLst>
                    <a:ext uri="{9D8B030D-6E8A-4147-A177-3AD203B41FA5}">
                      <a16:colId xmlns:a16="http://schemas.microsoft.com/office/drawing/2014/main" val="2494056320"/>
                    </a:ext>
                  </a:extLst>
                </a:gridCol>
              </a:tblGrid>
              <a:tr h="372759">
                <a:tc>
                  <a:txBody>
                    <a:bodyPr/>
                    <a:lstStyle/>
                    <a:p>
                      <a:pPr algn="ctr"/>
                      <a:r>
                        <a:rPr lang="en-US" b="1" dirty="0">
                          <a:latin typeface="Times New Roman" panose="02020603050405020304" pitchFamily="18" charset="0"/>
                          <a:cs typeface="Times New Roman" panose="02020603050405020304" pitchFamily="18" charset="0"/>
                        </a:rPr>
                        <a:t>Model</a:t>
                      </a:r>
                      <a:endParaRPr lang="en-IN" b="1" dirty="0">
                        <a:latin typeface="Times New Roman" panose="02020603050405020304" pitchFamily="18" charset="0"/>
                        <a:cs typeface="Times New Roman" panose="02020603050405020304" pitchFamily="18" charset="0"/>
                      </a:endParaRPr>
                    </a:p>
                  </a:txBody>
                  <a:tcPr/>
                </a:tc>
                <a:tc>
                  <a:txBody>
                    <a:bodyPr/>
                    <a:lstStyle/>
                    <a:p>
                      <a:pPr algn="ctr"/>
                      <a:r>
                        <a:rPr lang="en-US" b="1" dirty="0">
                          <a:latin typeface="Times New Roman" panose="02020603050405020304" pitchFamily="18" charset="0"/>
                          <a:cs typeface="Times New Roman" panose="02020603050405020304" pitchFamily="18" charset="0"/>
                        </a:rPr>
                        <a:t>Training Accuracy</a:t>
                      </a:r>
                      <a:endParaRPr lang="en-IN" b="1" dirty="0">
                        <a:latin typeface="Times New Roman" panose="02020603050405020304" pitchFamily="18" charset="0"/>
                        <a:cs typeface="Times New Roman" panose="02020603050405020304" pitchFamily="18" charset="0"/>
                      </a:endParaRPr>
                    </a:p>
                  </a:txBody>
                  <a:tcPr/>
                </a:tc>
                <a:tc>
                  <a:txBody>
                    <a:bodyPr/>
                    <a:lstStyle/>
                    <a:p>
                      <a:pPr algn="ctr"/>
                      <a:r>
                        <a:rPr lang="en-US" b="1" dirty="0">
                          <a:latin typeface="Times New Roman" panose="02020603050405020304" pitchFamily="18" charset="0"/>
                          <a:cs typeface="Times New Roman" panose="02020603050405020304" pitchFamily="18" charset="0"/>
                        </a:rPr>
                        <a:t>Testing Accuracy</a:t>
                      </a:r>
                      <a:endParaRPr lang="en-IN"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8406574"/>
                  </a:ext>
                </a:extLst>
              </a:tr>
              <a:tr h="372759">
                <a:tc>
                  <a:txBody>
                    <a:bodyPr/>
                    <a:lstStyle/>
                    <a:p>
                      <a:pPr algn="ctr"/>
                      <a:r>
                        <a:rPr lang="en-US" b="1" dirty="0"/>
                        <a:t>LSTM</a:t>
                      </a:r>
                      <a:endParaRPr lang="en-IN" b="1" dirty="0"/>
                    </a:p>
                  </a:txBody>
                  <a:tcPr/>
                </a:tc>
                <a:tc>
                  <a:txBody>
                    <a:bodyPr/>
                    <a:lstStyle/>
                    <a:p>
                      <a:pPr algn="ctr"/>
                      <a:r>
                        <a:rPr lang="en-US" dirty="0"/>
                        <a:t>98.11%</a:t>
                      </a:r>
                      <a:endParaRPr lang="en-IN" dirty="0"/>
                    </a:p>
                  </a:txBody>
                  <a:tcPr/>
                </a:tc>
                <a:tc>
                  <a:txBody>
                    <a:bodyPr/>
                    <a:lstStyle/>
                    <a:p>
                      <a:pPr algn="ctr"/>
                      <a:r>
                        <a:rPr lang="en-US" dirty="0"/>
                        <a:t>98.61%</a:t>
                      </a:r>
                      <a:endParaRPr lang="en-IN" dirty="0"/>
                    </a:p>
                  </a:txBody>
                  <a:tcPr/>
                </a:tc>
                <a:extLst>
                  <a:ext uri="{0D108BD9-81ED-4DB2-BD59-A6C34878D82A}">
                    <a16:rowId xmlns:a16="http://schemas.microsoft.com/office/drawing/2014/main" val="1946929973"/>
                  </a:ext>
                </a:extLst>
              </a:tr>
              <a:tr h="372759">
                <a:tc>
                  <a:txBody>
                    <a:bodyPr/>
                    <a:lstStyle/>
                    <a:p>
                      <a:pPr algn="ctr"/>
                      <a:r>
                        <a:rPr lang="en-US" b="1" dirty="0" err="1"/>
                        <a:t>BiLSTM</a:t>
                      </a:r>
                      <a:endParaRPr lang="en-IN" b="1" dirty="0"/>
                    </a:p>
                  </a:txBody>
                  <a:tcPr/>
                </a:tc>
                <a:tc>
                  <a:txBody>
                    <a:bodyPr/>
                    <a:lstStyle/>
                    <a:p>
                      <a:pPr algn="ctr"/>
                      <a:r>
                        <a:rPr lang="en-US" dirty="0"/>
                        <a:t>93.88%</a:t>
                      </a:r>
                      <a:endParaRPr lang="en-IN" dirty="0"/>
                    </a:p>
                  </a:txBody>
                  <a:tcPr/>
                </a:tc>
                <a:tc>
                  <a:txBody>
                    <a:bodyPr/>
                    <a:lstStyle/>
                    <a:p>
                      <a:pPr algn="ctr"/>
                      <a:r>
                        <a:rPr lang="en-US" dirty="0"/>
                        <a:t>93.92%</a:t>
                      </a:r>
                      <a:endParaRPr lang="en-IN" dirty="0"/>
                    </a:p>
                  </a:txBody>
                  <a:tcPr/>
                </a:tc>
                <a:extLst>
                  <a:ext uri="{0D108BD9-81ED-4DB2-BD59-A6C34878D82A}">
                    <a16:rowId xmlns:a16="http://schemas.microsoft.com/office/drawing/2014/main" val="2566940600"/>
                  </a:ext>
                </a:extLst>
              </a:tr>
            </a:tbl>
          </a:graphicData>
        </a:graphic>
      </p:graphicFrame>
    </p:spTree>
    <p:extLst>
      <p:ext uri="{BB962C8B-B14F-4D97-AF65-F5344CB8AC3E}">
        <p14:creationId xmlns:p14="http://schemas.microsoft.com/office/powerpoint/2010/main" val="2247865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A0EDA7-C536-F3AD-820A-3C1FA2B9FD2C}"/>
              </a:ext>
            </a:extLst>
          </p:cNvPr>
          <p:cNvSpPr txBox="1"/>
          <p:nvPr/>
        </p:nvSpPr>
        <p:spPr>
          <a:xfrm>
            <a:off x="521208" y="272535"/>
            <a:ext cx="10433304"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CONCLUSION AND FUTURE WORK</a:t>
            </a:r>
          </a:p>
        </p:txBody>
      </p:sp>
      <p:sp>
        <p:nvSpPr>
          <p:cNvPr id="5" name="TextBox 4">
            <a:extLst>
              <a:ext uri="{FF2B5EF4-FFF2-40B4-BE49-F238E27FC236}">
                <a16:creationId xmlns:a16="http://schemas.microsoft.com/office/drawing/2014/main" id="{E91B00F5-B1F6-4270-F692-2650135C156D}"/>
              </a:ext>
            </a:extLst>
          </p:cNvPr>
          <p:cNvSpPr txBox="1"/>
          <p:nvPr/>
        </p:nvSpPr>
        <p:spPr>
          <a:xfrm>
            <a:off x="669798" y="839230"/>
            <a:ext cx="11080242" cy="4939814"/>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Conclusion: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demonstrates the application of LSTM and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 models for detecting hate speech in social media text, with a focus on emoji-enhanced sentiment analysis.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processing both text and emoji information, the models show high accuracy in classifying hate and non-hate speech, with LSTM performing better in terms of overall performance compared to </a:t>
            </a:r>
            <a:r>
              <a:rPr lang="en-US" dirty="0" err="1">
                <a:latin typeface="Times New Roman" panose="02020603050405020304" pitchFamily="18" charset="0"/>
                <a:cs typeface="Times New Roman" panose="02020603050405020304" pitchFamily="18" charset="0"/>
              </a:rPr>
              <a:t>BiLSTM</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Future Work:</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Feature Extraction with ASCII Keys</a:t>
            </a:r>
            <a:r>
              <a:rPr lang="en-US" dirty="0">
                <a:latin typeface="Times New Roman" panose="02020603050405020304" pitchFamily="18" charset="0"/>
                <a:cs typeface="Times New Roman" panose="02020603050405020304" pitchFamily="18" charset="0"/>
              </a:rPr>
              <a:t>: Convert emojis into their ASCII representations for feature extraction, as the conversion of emojis into ASCII keys during Excel export affects the current feature extraction pipeline.</a:t>
            </a:r>
          </a:p>
          <a:p>
            <a:pPr marL="285750"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Model Enhancement with Transfer Learning</a:t>
            </a:r>
            <a:r>
              <a:rPr lang="en-US" dirty="0">
                <a:latin typeface="Times New Roman" panose="02020603050405020304" pitchFamily="18" charset="0"/>
                <a:cs typeface="Times New Roman" panose="02020603050405020304" pitchFamily="18" charset="0"/>
              </a:rPr>
              <a:t>: Investigate the use of Transfer Learning to fine-tune pre-trained models for better generalization on hate speech datasets, potentially improving accuracy and robustness.</a:t>
            </a:r>
          </a:p>
          <a:p>
            <a:pPr algn="just"/>
            <a:endParaRPr lang="en-US" dirty="0"/>
          </a:p>
        </p:txBody>
      </p:sp>
    </p:spTree>
    <p:extLst>
      <p:ext uri="{BB962C8B-B14F-4D97-AF65-F5344CB8AC3E}">
        <p14:creationId xmlns:p14="http://schemas.microsoft.com/office/powerpoint/2010/main" val="2503571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261FD9-DFF6-185B-F264-06AE94A1A6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970603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6441004-91C6-1F43-7D11-CAA25044A132}"/>
              </a:ext>
            </a:extLst>
          </p:cNvPr>
          <p:cNvSpPr txBox="1">
            <a:spLocks/>
          </p:cNvSpPr>
          <p:nvPr/>
        </p:nvSpPr>
        <p:spPr>
          <a:xfrm>
            <a:off x="838200" y="227965"/>
            <a:ext cx="10515600" cy="66814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931ED2-7CB4-5C6D-DA50-997442110B2E}"/>
              </a:ext>
            </a:extLst>
          </p:cNvPr>
          <p:cNvSpPr txBox="1"/>
          <p:nvPr/>
        </p:nvSpPr>
        <p:spPr>
          <a:xfrm>
            <a:off x="577596" y="758952"/>
            <a:ext cx="11036808" cy="6764672"/>
          </a:xfrm>
          <a:prstGeom prst="rect">
            <a:avLst/>
          </a:prstGeom>
          <a:noFill/>
        </p:spPr>
        <p:txBody>
          <a:bodyPr wrap="square">
            <a:spAutoFit/>
          </a:bodyPr>
          <a:lstStyle/>
          <a:p>
            <a:pPr algn="just">
              <a:lnSpc>
                <a:spcPct val="150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[1] U. Ahmed and J. C.-W. Lin, "Deep explainable hate speech active learning on social-media data", IEEE Trans.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Computat</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Social Syst., Apr. 2022.</a:t>
            </a:r>
          </a:p>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[2]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Alsafari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Sadaoui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Mouhoub</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 2020. “Hate and offensive speech detection on Arabic social media”. Online Soc.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Netw</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Media 19, 100096.</a:t>
            </a:r>
          </a:p>
          <a:p>
            <a:pPr algn="just">
              <a:lnSpc>
                <a:spcPct val="115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[3] S. 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Aluru</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B. Mathew, P. Saha, A. Mukherjee, “Deep learning models for multilingual hate</a:t>
            </a:r>
          </a:p>
          <a:p>
            <a:pPr algn="just">
              <a:lnSpc>
                <a:spcPct val="115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speech detection”,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arXiv</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preprint arXiv:2004.06465 (2020).</a:t>
            </a:r>
          </a:p>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[4] T. Mandl, S. Modha, G. K. Shahi, H. Madhu, 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Satapara</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P. Majumder, J. Schäfer, T. Ranas-</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inghe</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Zampieri</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 Nandini, A. K. Jaiswal, Overview of the HASOC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subtrack</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FIRE 2021: “Hate Speech and Offensive Content Identification in English and Indo-Aryan Languages”, in: Working Notes of FIRE 2021 - Forum for Information Retrieval Evaluation, CEUR, 2021.</a:t>
            </a:r>
          </a:p>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[5] C.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Baziotis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Pelekis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C.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Doulkeridis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Datastories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semeval-2017 task 4: “Deep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lstmwith</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attention for message-level and topic-based sentiment analysis”, in: Proceedings of the 11th International Workshop on Semantic Evaluation (SemEval-2017), Association for Computational Linguistics, Vancouver, Canada, 2017, pp. 747–754.</a:t>
            </a:r>
          </a:p>
          <a:p>
            <a:pPr algn="just">
              <a:lnSpc>
                <a:spcPct val="150000"/>
              </a:lnSpc>
              <a:spcAft>
                <a:spcPts val="800"/>
              </a:spcAft>
            </a:pP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353914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TotalTime>
  <Words>1245</Words>
  <Application>Microsoft Office PowerPoint</Application>
  <PresentationFormat>Widescreen</PresentationFormat>
  <Paragraphs>113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JANANI GOPALAKRISHNAN</dc:creator>
  <cp:lastModifiedBy>JANANI GOPALAKRISHNAN</cp:lastModifiedBy>
  <cp:revision>14</cp:revision>
  <dcterms:created xsi:type="dcterms:W3CDTF">2024-11-06T07:07:21Z</dcterms:created>
  <dcterms:modified xsi:type="dcterms:W3CDTF">2024-12-19T09:16:27Z</dcterms:modified>
</cp:coreProperties>
</file>